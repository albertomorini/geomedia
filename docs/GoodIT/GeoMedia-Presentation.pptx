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5"/>
  </p:notesMasterIdLst>
  <p:sldIdLst>
    <p:sldId id="256" r:id="rId2"/>
    <p:sldId id="267" r:id="rId3"/>
    <p:sldId id="270" r:id="rId4"/>
    <p:sldId id="273" r:id="rId5"/>
    <p:sldId id="261" r:id="rId6"/>
    <p:sldId id="271" r:id="rId7"/>
    <p:sldId id="265" r:id="rId8"/>
    <p:sldId id="266" r:id="rId9"/>
    <p:sldId id="269" r:id="rId10"/>
    <p:sldId id="274" r:id="rId11"/>
    <p:sldId id="262" r:id="rId12"/>
    <p:sldId id="263" r:id="rId13"/>
    <p:sldId id="264" r:id="rId14"/>
  </p:sldIdLst>
  <p:sldSz cx="9144000" cy="5143500" type="screen16x9"/>
  <p:notesSz cx="6858000" cy="9144000"/>
  <p:embeddedFontLst>
    <p:embeddedFont>
      <p:font typeface="Archivo" panose="020B0604020202020204" charset="0"/>
      <p:regular r:id="rId16"/>
      <p:bold r:id="rId17"/>
      <p:italic r:id="rId18"/>
      <p:boldItalic r:id="rId19"/>
    </p:embeddedFont>
    <p:embeddedFont>
      <p:font typeface="Raleway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3A"/>
    <a:srgbClr val="2F96B5"/>
    <a:srgbClr val="CE233C"/>
    <a:srgbClr val="148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07" autoAdjust="0"/>
  </p:normalViewPr>
  <p:slideViewPr>
    <p:cSldViewPr snapToGrid="0">
      <p:cViewPr varScale="1">
        <p:scale>
          <a:sx n="98" d="100"/>
          <a:sy n="98" d="100"/>
        </p:scale>
        <p:origin x="101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ed0a8443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ed0a8443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176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ed0a8443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ed0a8443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6768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ed0a8443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ed0a8443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Temporized posts will be reachable until the expiration date set by the publisher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The retrieving of the posts is made server side, which will compare the current datetime with the limit date of each temporized post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Exclusive content based on location area is computed on real time within the actual end-user location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Users when publishing can choose an exclusive area in km from their position in order to geographically limit the access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7474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ed0a8443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ed0a8443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ed0a8443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ed0a8443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You</a:t>
            </a:r>
            <a:r>
              <a:rPr lang="it-IT" dirty="0"/>
              <a:t> can build </a:t>
            </a:r>
            <a:r>
              <a:rPr lang="it-IT" dirty="0" err="1"/>
              <a:t>different</a:t>
            </a:r>
            <a:r>
              <a:rPr lang="it-IT" dirty="0"/>
              <a:t> applications on top of </a:t>
            </a:r>
            <a:r>
              <a:rPr lang="it-IT" dirty="0" err="1"/>
              <a:t>GeoMedia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8317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ed0a8443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6ed0a8443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6ed0a84434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6ed0a84434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f1ba5114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f1ba5114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3579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ed0a84434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ed0a84434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7488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ed0a84434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6ed0a84434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ed7cf06e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ed7cf06e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ed7cf06e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ed7cf06e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733950"/>
            <a:ext cx="7569300" cy="8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2099225"/>
            <a:ext cx="3831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4057725" y="4956150"/>
            <a:ext cx="544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0" y="1693750"/>
            <a:ext cx="3385800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572012" y="628382"/>
            <a:ext cx="1142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572011" y="3828118"/>
            <a:ext cx="2566800" cy="6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6994450" y="189300"/>
            <a:ext cx="2358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2735246" y="3699750"/>
            <a:ext cx="36735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2735246" y="1903875"/>
            <a:ext cx="36735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2735254" y="3391725"/>
            <a:ext cx="3673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2735254" y="1595850"/>
            <a:ext cx="3673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cxnSp>
        <p:nvCxnSpPr>
          <p:cNvPr id="33" name="Google Shape;33;p6"/>
          <p:cNvCxnSpPr/>
          <p:nvPr/>
        </p:nvCxnSpPr>
        <p:spPr>
          <a:xfrm rot="10800000" flipH="1">
            <a:off x="7372975" y="4956250"/>
            <a:ext cx="1979700" cy="1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ubTitle" idx="1"/>
          </p:nvPr>
        </p:nvSpPr>
        <p:spPr>
          <a:xfrm>
            <a:off x="2424600" y="1950350"/>
            <a:ext cx="4294800" cy="19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38" name="Google Shape;38;p7"/>
          <p:cNvCxnSpPr/>
          <p:nvPr/>
        </p:nvCxnSpPr>
        <p:spPr>
          <a:xfrm>
            <a:off x="7104025" y="4956150"/>
            <a:ext cx="2248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3225475" y="615700"/>
            <a:ext cx="5205300" cy="8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2" name="Google Shape;42;p8"/>
          <p:cNvCxnSpPr/>
          <p:nvPr/>
        </p:nvCxnSpPr>
        <p:spPr>
          <a:xfrm>
            <a:off x="-406400" y="4956150"/>
            <a:ext cx="4163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13225" y="539488"/>
            <a:ext cx="4419900" cy="10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713225" y="1846113"/>
            <a:ext cx="4419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4042050" y="4956150"/>
            <a:ext cx="5936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>
            <a:spLocks noGrp="1"/>
          </p:cNvSpPr>
          <p:nvPr>
            <p:ph type="pic" idx="2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720000" y="4097875"/>
            <a:ext cx="5109000" cy="489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582163"/>
            <a:ext cx="5700600" cy="101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713225" y="3064238"/>
            <a:ext cx="57006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5" name="Google Shape;55;p11"/>
          <p:cNvCxnSpPr/>
          <p:nvPr/>
        </p:nvCxnSpPr>
        <p:spPr>
          <a:xfrm>
            <a:off x="5400725" y="4956150"/>
            <a:ext cx="3951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169922" y="2489550"/>
            <a:ext cx="2306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2"/>
          </p:nvPr>
        </p:nvSpPr>
        <p:spPr>
          <a:xfrm>
            <a:off x="3418950" y="3762300"/>
            <a:ext cx="2306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3"/>
          </p:nvPr>
        </p:nvSpPr>
        <p:spPr>
          <a:xfrm>
            <a:off x="5667976" y="2489550"/>
            <a:ext cx="2306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4" hasCustomPrompt="1"/>
          </p:nvPr>
        </p:nvSpPr>
        <p:spPr>
          <a:xfrm>
            <a:off x="1863226" y="1491738"/>
            <a:ext cx="919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48" y="27646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6" hasCustomPrompt="1"/>
          </p:nvPr>
        </p:nvSpPr>
        <p:spPr>
          <a:xfrm>
            <a:off x="6453678" y="14958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7"/>
          </p:nvPr>
        </p:nvSpPr>
        <p:spPr>
          <a:xfrm>
            <a:off x="716622" y="2110250"/>
            <a:ext cx="3212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8"/>
          </p:nvPr>
        </p:nvSpPr>
        <p:spPr>
          <a:xfrm>
            <a:off x="2965648" y="3382998"/>
            <a:ext cx="3212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9"/>
          </p:nvPr>
        </p:nvSpPr>
        <p:spPr>
          <a:xfrm>
            <a:off x="5214678" y="2110250"/>
            <a:ext cx="3212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69" name="Google Shape;69;p13"/>
          <p:cNvGrpSpPr/>
          <p:nvPr/>
        </p:nvGrpSpPr>
        <p:grpSpPr>
          <a:xfrm>
            <a:off x="-196437" y="4956150"/>
            <a:ext cx="9536875" cy="0"/>
            <a:chOff x="-196437" y="4956150"/>
            <a:chExt cx="9536875" cy="0"/>
          </a:xfrm>
        </p:grpSpPr>
        <p:cxnSp>
          <p:nvCxnSpPr>
            <p:cNvPr id="70" name="Google Shape;70;p13"/>
            <p:cNvCxnSpPr/>
            <p:nvPr/>
          </p:nvCxnSpPr>
          <p:spPr>
            <a:xfrm>
              <a:off x="6613738" y="4956150"/>
              <a:ext cx="2726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13"/>
            <p:cNvCxnSpPr/>
            <p:nvPr/>
          </p:nvCxnSpPr>
          <p:spPr>
            <a:xfrm>
              <a:off x="-196437" y="4956150"/>
              <a:ext cx="2726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713225" y="3395763"/>
            <a:ext cx="5160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713225" y="1215838"/>
            <a:ext cx="5160600" cy="20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76" name="Google Shape;76;p14"/>
          <p:cNvCxnSpPr/>
          <p:nvPr/>
        </p:nvCxnSpPr>
        <p:spPr>
          <a:xfrm>
            <a:off x="5400725" y="4956150"/>
            <a:ext cx="3951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2234646" y="1019425"/>
            <a:ext cx="5951700" cy="9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 idx="2" hasCustomPrompt="1"/>
          </p:nvPr>
        </p:nvSpPr>
        <p:spPr>
          <a:xfrm>
            <a:off x="957650" y="1019425"/>
            <a:ext cx="1276800" cy="90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1"/>
          </p:nvPr>
        </p:nvSpPr>
        <p:spPr>
          <a:xfrm>
            <a:off x="2234600" y="1935575"/>
            <a:ext cx="59517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324275" y="4956150"/>
            <a:ext cx="8028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1918901" y="1733100"/>
            <a:ext cx="3434400" cy="16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733100"/>
            <a:ext cx="1142700" cy="104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"/>
          </p:nvPr>
        </p:nvSpPr>
        <p:spPr>
          <a:xfrm>
            <a:off x="6025376" y="1733093"/>
            <a:ext cx="2405400" cy="6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8" name="Google Shape;88;p16"/>
          <p:cNvCxnSpPr/>
          <p:nvPr/>
        </p:nvCxnSpPr>
        <p:spPr>
          <a:xfrm>
            <a:off x="-298375" y="4953605"/>
            <a:ext cx="216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cxnSp>
        <p:nvCxnSpPr>
          <p:cNvPr id="92" name="Google Shape;92;p17"/>
          <p:cNvCxnSpPr/>
          <p:nvPr/>
        </p:nvCxnSpPr>
        <p:spPr>
          <a:xfrm>
            <a:off x="6454825" y="189300"/>
            <a:ext cx="278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18"/>
          <p:cNvGrpSpPr/>
          <p:nvPr/>
        </p:nvGrpSpPr>
        <p:grpSpPr>
          <a:xfrm>
            <a:off x="-650125" y="189300"/>
            <a:ext cx="9888950" cy="4766850"/>
            <a:chOff x="-650125" y="189300"/>
            <a:chExt cx="9888950" cy="4766850"/>
          </a:xfrm>
        </p:grpSpPr>
        <p:cxnSp>
          <p:nvCxnSpPr>
            <p:cNvPr id="97" name="Google Shape;97;p18"/>
            <p:cNvCxnSpPr/>
            <p:nvPr/>
          </p:nvCxnSpPr>
          <p:spPr>
            <a:xfrm>
              <a:off x="6454825" y="189300"/>
              <a:ext cx="278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18"/>
            <p:cNvCxnSpPr/>
            <p:nvPr/>
          </p:nvCxnSpPr>
          <p:spPr>
            <a:xfrm>
              <a:off x="-650125" y="4956150"/>
              <a:ext cx="7196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02" name="Google Shape;102;p19"/>
          <p:cNvGrpSpPr/>
          <p:nvPr/>
        </p:nvGrpSpPr>
        <p:grpSpPr>
          <a:xfrm>
            <a:off x="-179612" y="4956150"/>
            <a:ext cx="9503225" cy="0"/>
            <a:chOff x="-179612" y="4956150"/>
            <a:chExt cx="9503225" cy="0"/>
          </a:xfrm>
        </p:grpSpPr>
        <p:cxnSp>
          <p:nvCxnSpPr>
            <p:cNvPr id="103" name="Google Shape;103;p19"/>
            <p:cNvCxnSpPr/>
            <p:nvPr/>
          </p:nvCxnSpPr>
          <p:spPr>
            <a:xfrm>
              <a:off x="8197413" y="4956150"/>
              <a:ext cx="1126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9"/>
            <p:cNvCxnSpPr/>
            <p:nvPr/>
          </p:nvCxnSpPr>
          <p:spPr>
            <a:xfrm>
              <a:off x="-179612" y="4956150"/>
              <a:ext cx="1126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cxnSp>
        <p:nvCxnSpPr>
          <p:cNvPr id="108" name="Google Shape;108;p20"/>
          <p:cNvCxnSpPr/>
          <p:nvPr/>
        </p:nvCxnSpPr>
        <p:spPr>
          <a:xfrm>
            <a:off x="-650125" y="4956150"/>
            <a:ext cx="435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720000" y="982313"/>
            <a:ext cx="3037200" cy="214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720000" y="3129488"/>
            <a:ext cx="30372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>
            <a:spLocks noGrp="1"/>
          </p:cNvSpPr>
          <p:nvPr>
            <p:ph type="pic" idx="2"/>
          </p:nvPr>
        </p:nvSpPr>
        <p:spPr>
          <a:xfrm>
            <a:off x="5018250" y="539500"/>
            <a:ext cx="3412500" cy="4064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4" name="Google Shape;114;p21"/>
          <p:cNvCxnSpPr/>
          <p:nvPr/>
        </p:nvCxnSpPr>
        <p:spPr>
          <a:xfrm>
            <a:off x="-194700" y="4956150"/>
            <a:ext cx="5824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720000" y="1585775"/>
            <a:ext cx="3365700" cy="124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1"/>
          </p:nvPr>
        </p:nvSpPr>
        <p:spPr>
          <a:xfrm>
            <a:off x="720000" y="2752525"/>
            <a:ext cx="33657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9" name="Google Shape;119;p22"/>
          <p:cNvCxnSpPr/>
          <p:nvPr/>
        </p:nvCxnSpPr>
        <p:spPr>
          <a:xfrm>
            <a:off x="-228600" y="4956150"/>
            <a:ext cx="5549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4720150" y="1910250"/>
            <a:ext cx="3461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subTitle" idx="1"/>
          </p:nvPr>
        </p:nvSpPr>
        <p:spPr>
          <a:xfrm>
            <a:off x="4720325" y="2406750"/>
            <a:ext cx="3461100" cy="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4" name="Google Shape;124;p23"/>
          <p:cNvCxnSpPr/>
          <p:nvPr/>
        </p:nvCxnSpPr>
        <p:spPr>
          <a:xfrm>
            <a:off x="6137825" y="4956150"/>
            <a:ext cx="3214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872400" y="1979400"/>
            <a:ext cx="2548800" cy="11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ubTitle" idx="1"/>
          </p:nvPr>
        </p:nvSpPr>
        <p:spPr>
          <a:xfrm>
            <a:off x="5729575" y="1979400"/>
            <a:ext cx="2548800" cy="11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7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33" name="Google Shape;133;p25"/>
          <p:cNvGrpSpPr/>
          <p:nvPr/>
        </p:nvGrpSpPr>
        <p:grpSpPr>
          <a:xfrm>
            <a:off x="-650125" y="189300"/>
            <a:ext cx="9888950" cy="4766850"/>
            <a:chOff x="-650125" y="189300"/>
            <a:chExt cx="9888950" cy="4766850"/>
          </a:xfrm>
        </p:grpSpPr>
        <p:cxnSp>
          <p:nvCxnSpPr>
            <p:cNvPr id="134" name="Google Shape;134;p25"/>
            <p:cNvCxnSpPr/>
            <p:nvPr/>
          </p:nvCxnSpPr>
          <p:spPr>
            <a:xfrm>
              <a:off x="6454825" y="189300"/>
              <a:ext cx="278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Google Shape;135;p25"/>
            <p:cNvCxnSpPr/>
            <p:nvPr/>
          </p:nvCxnSpPr>
          <p:spPr>
            <a:xfrm>
              <a:off x="-650125" y="4956150"/>
              <a:ext cx="43575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subTitle" idx="1"/>
          </p:nvPr>
        </p:nvSpPr>
        <p:spPr>
          <a:xfrm>
            <a:off x="5813700" y="3673125"/>
            <a:ext cx="196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subTitle" idx="2"/>
          </p:nvPr>
        </p:nvSpPr>
        <p:spPr>
          <a:xfrm>
            <a:off x="2337900" y="2160025"/>
            <a:ext cx="196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subTitle" idx="3"/>
          </p:nvPr>
        </p:nvSpPr>
        <p:spPr>
          <a:xfrm>
            <a:off x="2337900" y="1672413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subTitle" idx="4"/>
          </p:nvPr>
        </p:nvSpPr>
        <p:spPr>
          <a:xfrm>
            <a:off x="5813700" y="3185513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3" name="Google Shape;143;p26"/>
          <p:cNvSpPr>
            <a:spLocks noGrp="1"/>
          </p:cNvSpPr>
          <p:nvPr>
            <p:ph type="pic" idx="5"/>
          </p:nvPr>
        </p:nvSpPr>
        <p:spPr>
          <a:xfrm>
            <a:off x="824700" y="1522175"/>
            <a:ext cx="1360800" cy="1360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26"/>
          <p:cNvSpPr>
            <a:spLocks noGrp="1"/>
          </p:cNvSpPr>
          <p:nvPr>
            <p:ph type="pic" idx="6"/>
          </p:nvPr>
        </p:nvSpPr>
        <p:spPr>
          <a:xfrm>
            <a:off x="4300500" y="3035275"/>
            <a:ext cx="1360800" cy="13608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45" name="Google Shape;145;p26"/>
          <p:cNvGrpSpPr/>
          <p:nvPr/>
        </p:nvGrpSpPr>
        <p:grpSpPr>
          <a:xfrm>
            <a:off x="-275850" y="189300"/>
            <a:ext cx="9695675" cy="4766850"/>
            <a:chOff x="-275850" y="189300"/>
            <a:chExt cx="9695675" cy="4766850"/>
          </a:xfrm>
        </p:grpSpPr>
        <p:cxnSp>
          <p:nvCxnSpPr>
            <p:cNvPr id="146" name="Google Shape;146;p26"/>
            <p:cNvCxnSpPr/>
            <p:nvPr/>
          </p:nvCxnSpPr>
          <p:spPr>
            <a:xfrm>
              <a:off x="-275850" y="4956150"/>
              <a:ext cx="3951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26"/>
            <p:cNvCxnSpPr/>
            <p:nvPr/>
          </p:nvCxnSpPr>
          <p:spPr>
            <a:xfrm>
              <a:off x="5301125" y="189300"/>
              <a:ext cx="4118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"/>
          </p:nvPr>
        </p:nvSpPr>
        <p:spPr>
          <a:xfrm>
            <a:off x="2399550" y="3143000"/>
            <a:ext cx="6024300" cy="14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ubTitle" idx="2"/>
          </p:nvPr>
        </p:nvSpPr>
        <p:spPr>
          <a:xfrm>
            <a:off x="713225" y="1455750"/>
            <a:ext cx="6024300" cy="14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3" name="Google Shape;153;p27"/>
          <p:cNvCxnSpPr/>
          <p:nvPr/>
        </p:nvCxnSpPr>
        <p:spPr>
          <a:xfrm>
            <a:off x="-105100" y="4956150"/>
            <a:ext cx="2159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ubTitle" idx="1"/>
          </p:nvPr>
        </p:nvSpPr>
        <p:spPr>
          <a:xfrm>
            <a:off x="4572000" y="2851713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ubTitle" idx="2"/>
          </p:nvPr>
        </p:nvSpPr>
        <p:spPr>
          <a:xfrm>
            <a:off x="4572000" y="40129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subTitle" idx="3"/>
          </p:nvPr>
        </p:nvSpPr>
        <p:spPr>
          <a:xfrm>
            <a:off x="4572000" y="1690526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subTitle" idx="4"/>
          </p:nvPr>
        </p:nvSpPr>
        <p:spPr>
          <a:xfrm>
            <a:off x="4572000" y="2415537"/>
            <a:ext cx="3852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subTitle" idx="5"/>
          </p:nvPr>
        </p:nvSpPr>
        <p:spPr>
          <a:xfrm>
            <a:off x="4572000" y="3576724"/>
            <a:ext cx="3852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ubTitle" idx="6"/>
          </p:nvPr>
        </p:nvSpPr>
        <p:spPr>
          <a:xfrm>
            <a:off x="4572000" y="1254350"/>
            <a:ext cx="3852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63" name="Google Shape;163;p28"/>
          <p:cNvCxnSpPr/>
          <p:nvPr/>
        </p:nvCxnSpPr>
        <p:spPr>
          <a:xfrm>
            <a:off x="-650125" y="4956150"/>
            <a:ext cx="435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subTitle" idx="1"/>
          </p:nvPr>
        </p:nvSpPr>
        <p:spPr>
          <a:xfrm>
            <a:off x="713225" y="2391709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subTitle" idx="2"/>
          </p:nvPr>
        </p:nvSpPr>
        <p:spPr>
          <a:xfrm>
            <a:off x="4534944" y="2391709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subTitle" idx="3"/>
          </p:nvPr>
        </p:nvSpPr>
        <p:spPr>
          <a:xfrm>
            <a:off x="2624085" y="3520309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subTitle" idx="4"/>
          </p:nvPr>
        </p:nvSpPr>
        <p:spPr>
          <a:xfrm>
            <a:off x="6445804" y="3520309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subTitle" idx="5"/>
          </p:nvPr>
        </p:nvSpPr>
        <p:spPr>
          <a:xfrm>
            <a:off x="713225" y="21203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6"/>
          </p:nvPr>
        </p:nvSpPr>
        <p:spPr>
          <a:xfrm>
            <a:off x="2624083" y="32490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subTitle" idx="7"/>
          </p:nvPr>
        </p:nvSpPr>
        <p:spPr>
          <a:xfrm>
            <a:off x="4534942" y="21203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subTitle" idx="8"/>
          </p:nvPr>
        </p:nvSpPr>
        <p:spPr>
          <a:xfrm>
            <a:off x="6445800" y="32490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75" name="Google Shape;175;p29"/>
          <p:cNvCxnSpPr/>
          <p:nvPr/>
        </p:nvCxnSpPr>
        <p:spPr>
          <a:xfrm>
            <a:off x="-154337" y="4956150"/>
            <a:ext cx="2280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0"/>
          <p:cNvSpPr txBox="1">
            <a:spLocks noGrp="1"/>
          </p:cNvSpPr>
          <p:nvPr>
            <p:ph type="subTitle" idx="1"/>
          </p:nvPr>
        </p:nvSpPr>
        <p:spPr>
          <a:xfrm>
            <a:off x="1165225" y="1749249"/>
            <a:ext cx="219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subTitle" idx="2"/>
          </p:nvPr>
        </p:nvSpPr>
        <p:spPr>
          <a:xfrm>
            <a:off x="5784249" y="2778227"/>
            <a:ext cx="219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subTitle" idx="3"/>
          </p:nvPr>
        </p:nvSpPr>
        <p:spPr>
          <a:xfrm>
            <a:off x="1165225" y="3807175"/>
            <a:ext cx="219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0"/>
          <p:cNvSpPr txBox="1">
            <a:spLocks noGrp="1"/>
          </p:cNvSpPr>
          <p:nvPr>
            <p:ph type="subTitle" idx="4"/>
          </p:nvPr>
        </p:nvSpPr>
        <p:spPr>
          <a:xfrm>
            <a:off x="1165225" y="2778227"/>
            <a:ext cx="219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subTitle" idx="5"/>
          </p:nvPr>
        </p:nvSpPr>
        <p:spPr>
          <a:xfrm>
            <a:off x="5784249" y="1749249"/>
            <a:ext cx="219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subTitle" idx="6"/>
          </p:nvPr>
        </p:nvSpPr>
        <p:spPr>
          <a:xfrm>
            <a:off x="5784249" y="3807175"/>
            <a:ext cx="219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subTitle" idx="7"/>
          </p:nvPr>
        </p:nvSpPr>
        <p:spPr>
          <a:xfrm>
            <a:off x="1165236" y="1487775"/>
            <a:ext cx="219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8"/>
          </p:nvPr>
        </p:nvSpPr>
        <p:spPr>
          <a:xfrm>
            <a:off x="5784264" y="2516160"/>
            <a:ext cx="219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subTitle" idx="9"/>
          </p:nvPr>
        </p:nvSpPr>
        <p:spPr>
          <a:xfrm>
            <a:off x="5784263" y="1487775"/>
            <a:ext cx="219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subTitle" idx="13"/>
          </p:nvPr>
        </p:nvSpPr>
        <p:spPr>
          <a:xfrm>
            <a:off x="1165236" y="3544545"/>
            <a:ext cx="219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subTitle" idx="14"/>
          </p:nvPr>
        </p:nvSpPr>
        <p:spPr>
          <a:xfrm>
            <a:off x="1165236" y="2516160"/>
            <a:ext cx="219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subTitle" idx="15"/>
          </p:nvPr>
        </p:nvSpPr>
        <p:spPr>
          <a:xfrm>
            <a:off x="5784264" y="3544545"/>
            <a:ext cx="219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91" name="Google Shape;191;p30"/>
          <p:cNvCxnSpPr/>
          <p:nvPr/>
        </p:nvCxnSpPr>
        <p:spPr>
          <a:xfrm>
            <a:off x="2581825" y="4956150"/>
            <a:ext cx="6770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>
            <a:spLocks noGrp="1"/>
          </p:cNvSpPr>
          <p:nvPr>
            <p:ph type="title" hasCustomPrompt="1"/>
          </p:nvPr>
        </p:nvSpPr>
        <p:spPr>
          <a:xfrm>
            <a:off x="4818175" y="706175"/>
            <a:ext cx="361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31"/>
          <p:cNvSpPr txBox="1">
            <a:spLocks noGrp="1"/>
          </p:cNvSpPr>
          <p:nvPr>
            <p:ph type="subTitle" idx="1"/>
          </p:nvPr>
        </p:nvSpPr>
        <p:spPr>
          <a:xfrm>
            <a:off x="4818175" y="1464174"/>
            <a:ext cx="36126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706175"/>
            <a:ext cx="361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31"/>
          <p:cNvSpPr txBox="1">
            <a:spLocks noGrp="1"/>
          </p:cNvSpPr>
          <p:nvPr>
            <p:ph type="subTitle" idx="3"/>
          </p:nvPr>
        </p:nvSpPr>
        <p:spPr>
          <a:xfrm>
            <a:off x="713225" y="1464175"/>
            <a:ext cx="36126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title" idx="4" hasCustomPrompt="1"/>
          </p:nvPr>
        </p:nvSpPr>
        <p:spPr>
          <a:xfrm>
            <a:off x="4818175" y="3301583"/>
            <a:ext cx="361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" name="Google Shape;199;p31"/>
          <p:cNvSpPr txBox="1">
            <a:spLocks noGrp="1"/>
          </p:cNvSpPr>
          <p:nvPr>
            <p:ph type="subTitle" idx="5"/>
          </p:nvPr>
        </p:nvSpPr>
        <p:spPr>
          <a:xfrm>
            <a:off x="4818175" y="4064725"/>
            <a:ext cx="36126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200" name="Google Shape;200;p31"/>
          <p:cNvCxnSpPr/>
          <p:nvPr/>
        </p:nvCxnSpPr>
        <p:spPr>
          <a:xfrm>
            <a:off x="-190025" y="4956150"/>
            <a:ext cx="3951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2"/>
          <p:cNvSpPr txBox="1">
            <a:spLocks noGrp="1"/>
          </p:cNvSpPr>
          <p:nvPr>
            <p:ph type="title"/>
          </p:nvPr>
        </p:nvSpPr>
        <p:spPr>
          <a:xfrm>
            <a:off x="713227" y="1509400"/>
            <a:ext cx="35355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2"/>
          <p:cNvSpPr txBox="1">
            <a:spLocks noGrp="1"/>
          </p:cNvSpPr>
          <p:nvPr>
            <p:ph type="subTitle" idx="1"/>
          </p:nvPr>
        </p:nvSpPr>
        <p:spPr>
          <a:xfrm>
            <a:off x="713188" y="2575400"/>
            <a:ext cx="35355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2"/>
          <p:cNvSpPr txBox="1"/>
          <p:nvPr/>
        </p:nvSpPr>
        <p:spPr>
          <a:xfrm>
            <a:off x="4895313" y="2568100"/>
            <a:ext cx="35355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3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lang="en" sz="1200" b="1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4"/>
              </a:rPr>
              <a:t>Flaticon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lang="en" sz="1200" b="1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5"/>
              </a:rPr>
              <a:t>Freepik </a:t>
            </a:r>
            <a:endParaRPr sz="1200" b="1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06" name="Google Shape;206;p32"/>
          <p:cNvGrpSpPr/>
          <p:nvPr/>
        </p:nvGrpSpPr>
        <p:grpSpPr>
          <a:xfrm>
            <a:off x="-275850" y="189300"/>
            <a:ext cx="9695700" cy="4766850"/>
            <a:chOff x="-275850" y="189300"/>
            <a:chExt cx="9695700" cy="4766850"/>
          </a:xfrm>
        </p:grpSpPr>
        <p:cxnSp>
          <p:nvCxnSpPr>
            <p:cNvPr id="207" name="Google Shape;207;p32"/>
            <p:cNvCxnSpPr/>
            <p:nvPr/>
          </p:nvCxnSpPr>
          <p:spPr>
            <a:xfrm>
              <a:off x="-275850" y="189300"/>
              <a:ext cx="2183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32"/>
            <p:cNvCxnSpPr/>
            <p:nvPr/>
          </p:nvCxnSpPr>
          <p:spPr>
            <a:xfrm>
              <a:off x="7142850" y="4956150"/>
              <a:ext cx="2277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33"/>
          <p:cNvGrpSpPr/>
          <p:nvPr/>
        </p:nvGrpSpPr>
        <p:grpSpPr>
          <a:xfrm flipH="1">
            <a:off x="7279413" y="189292"/>
            <a:ext cx="1303787" cy="997933"/>
            <a:chOff x="257225" y="3170492"/>
            <a:chExt cx="1303787" cy="997933"/>
          </a:xfrm>
        </p:grpSpPr>
        <p:sp>
          <p:nvSpPr>
            <p:cNvPr id="212" name="Google Shape;212;p33"/>
            <p:cNvSpPr/>
            <p:nvPr/>
          </p:nvSpPr>
          <p:spPr>
            <a:xfrm rot="10800000">
              <a:off x="1316825" y="3170492"/>
              <a:ext cx="72550" cy="907458"/>
            </a:xfrm>
            <a:custGeom>
              <a:avLst/>
              <a:gdLst/>
              <a:ahLst/>
              <a:cxnLst/>
              <a:rect l="l" t="t" r="r" b="b"/>
              <a:pathLst>
                <a:path w="1222" h="38346" extrusionOk="0">
                  <a:moveTo>
                    <a:pt x="611" y="1"/>
                  </a:moveTo>
                  <a:cubicBezTo>
                    <a:pt x="273" y="1"/>
                    <a:pt x="1" y="275"/>
                    <a:pt x="1" y="611"/>
                  </a:cubicBezTo>
                  <a:lnTo>
                    <a:pt x="1" y="38346"/>
                  </a:lnTo>
                  <a:lnTo>
                    <a:pt x="1221" y="38346"/>
                  </a:lnTo>
                  <a:lnTo>
                    <a:pt x="1221" y="611"/>
                  </a:lnTo>
                  <a:cubicBezTo>
                    <a:pt x="1221" y="275"/>
                    <a:pt x="948" y="1"/>
                    <a:pt x="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3"/>
            <p:cNvSpPr/>
            <p:nvPr/>
          </p:nvSpPr>
          <p:spPr>
            <a:xfrm rot="10800000">
              <a:off x="428750" y="3170492"/>
              <a:ext cx="71276" cy="907458"/>
            </a:xfrm>
            <a:custGeom>
              <a:avLst/>
              <a:gdLst/>
              <a:ahLst/>
              <a:cxnLst/>
              <a:rect l="l" t="t" r="r" b="b"/>
              <a:pathLst>
                <a:path w="1222" h="38346" extrusionOk="0">
                  <a:moveTo>
                    <a:pt x="611" y="1"/>
                  </a:moveTo>
                  <a:cubicBezTo>
                    <a:pt x="273" y="1"/>
                    <a:pt x="1" y="275"/>
                    <a:pt x="1" y="611"/>
                  </a:cubicBezTo>
                  <a:lnTo>
                    <a:pt x="1" y="38346"/>
                  </a:lnTo>
                  <a:lnTo>
                    <a:pt x="1221" y="38346"/>
                  </a:lnTo>
                  <a:lnTo>
                    <a:pt x="1221" y="611"/>
                  </a:lnTo>
                  <a:cubicBezTo>
                    <a:pt x="1221" y="275"/>
                    <a:pt x="948" y="1"/>
                    <a:pt x="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257225" y="3840812"/>
              <a:ext cx="1303787" cy="327614"/>
            </a:xfrm>
            <a:custGeom>
              <a:avLst/>
              <a:gdLst/>
              <a:ahLst/>
              <a:cxnLst/>
              <a:rect l="l" t="t" r="r" b="b"/>
              <a:pathLst>
                <a:path w="30699" h="7714" extrusionOk="0">
                  <a:moveTo>
                    <a:pt x="760" y="1"/>
                  </a:moveTo>
                  <a:cubicBezTo>
                    <a:pt x="339" y="1"/>
                    <a:pt x="0" y="340"/>
                    <a:pt x="0" y="760"/>
                  </a:cubicBezTo>
                  <a:lnTo>
                    <a:pt x="0" y="6954"/>
                  </a:lnTo>
                  <a:cubicBezTo>
                    <a:pt x="0" y="7374"/>
                    <a:pt x="339" y="7713"/>
                    <a:pt x="760" y="7713"/>
                  </a:cubicBezTo>
                  <a:lnTo>
                    <a:pt x="29939" y="7713"/>
                  </a:lnTo>
                  <a:cubicBezTo>
                    <a:pt x="30360" y="7713"/>
                    <a:pt x="30699" y="7374"/>
                    <a:pt x="30699" y="6954"/>
                  </a:cubicBezTo>
                  <a:lnTo>
                    <a:pt x="30699" y="760"/>
                  </a:lnTo>
                  <a:cubicBezTo>
                    <a:pt x="30699" y="340"/>
                    <a:pt x="30360" y="1"/>
                    <a:pt x="299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5" name="Google Shape;215;p33"/>
            <p:cNvCxnSpPr/>
            <p:nvPr/>
          </p:nvCxnSpPr>
          <p:spPr>
            <a:xfrm>
              <a:off x="529618" y="4004618"/>
              <a:ext cx="759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16" name="Google Shape;216;p33"/>
          <p:cNvCxnSpPr/>
          <p:nvPr/>
        </p:nvCxnSpPr>
        <p:spPr>
          <a:xfrm>
            <a:off x="6753875" y="189300"/>
            <a:ext cx="248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34"/>
          <p:cNvGrpSpPr/>
          <p:nvPr/>
        </p:nvGrpSpPr>
        <p:grpSpPr>
          <a:xfrm>
            <a:off x="163713" y="3085826"/>
            <a:ext cx="792609" cy="1870325"/>
            <a:chOff x="6305163" y="3085901"/>
            <a:chExt cx="792609" cy="1870325"/>
          </a:xfrm>
        </p:grpSpPr>
        <p:grpSp>
          <p:nvGrpSpPr>
            <p:cNvPr id="220" name="Google Shape;220;p34"/>
            <p:cNvGrpSpPr/>
            <p:nvPr/>
          </p:nvGrpSpPr>
          <p:grpSpPr>
            <a:xfrm>
              <a:off x="6631989" y="3182525"/>
              <a:ext cx="139283" cy="1773700"/>
              <a:chOff x="6631989" y="3182525"/>
              <a:chExt cx="139283" cy="1773700"/>
            </a:xfrm>
          </p:grpSpPr>
          <p:sp>
            <p:nvSpPr>
              <p:cNvPr id="221" name="Google Shape;221;p34"/>
              <p:cNvSpPr/>
              <p:nvPr/>
            </p:nvSpPr>
            <p:spPr>
              <a:xfrm>
                <a:off x="6631989" y="4645805"/>
                <a:ext cx="139283" cy="310421"/>
              </a:xfrm>
              <a:custGeom>
                <a:avLst/>
                <a:gdLst/>
                <a:ahLst/>
                <a:cxnLst/>
                <a:rect l="l" t="t" r="r" b="b"/>
                <a:pathLst>
                  <a:path w="2877" h="6412" extrusionOk="0">
                    <a:moveTo>
                      <a:pt x="711" y="1"/>
                    </a:moveTo>
                    <a:cubicBezTo>
                      <a:pt x="319" y="1"/>
                      <a:pt x="0" y="319"/>
                      <a:pt x="0" y="712"/>
                    </a:cubicBezTo>
                    <a:lnTo>
                      <a:pt x="0" y="6412"/>
                    </a:lnTo>
                    <a:lnTo>
                      <a:pt x="2877" y="6412"/>
                    </a:lnTo>
                    <a:lnTo>
                      <a:pt x="2877" y="712"/>
                    </a:lnTo>
                    <a:cubicBezTo>
                      <a:pt x="2877" y="319"/>
                      <a:pt x="2558" y="1"/>
                      <a:pt x="21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34"/>
              <p:cNvSpPr/>
              <p:nvPr/>
            </p:nvSpPr>
            <p:spPr>
              <a:xfrm>
                <a:off x="6663188" y="3182525"/>
                <a:ext cx="76876" cy="1766792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38346" extrusionOk="0">
                    <a:moveTo>
                      <a:pt x="611" y="1"/>
                    </a:moveTo>
                    <a:cubicBezTo>
                      <a:pt x="273" y="1"/>
                      <a:pt x="1" y="275"/>
                      <a:pt x="1" y="611"/>
                    </a:cubicBezTo>
                    <a:lnTo>
                      <a:pt x="1" y="38346"/>
                    </a:lnTo>
                    <a:lnTo>
                      <a:pt x="1221" y="38346"/>
                    </a:lnTo>
                    <a:lnTo>
                      <a:pt x="1221" y="611"/>
                    </a:lnTo>
                    <a:cubicBezTo>
                      <a:pt x="1221" y="275"/>
                      <a:pt x="948" y="1"/>
                      <a:pt x="6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3" name="Google Shape;223;p34"/>
            <p:cNvSpPr/>
            <p:nvPr/>
          </p:nvSpPr>
          <p:spPr>
            <a:xfrm>
              <a:off x="6631846" y="3365479"/>
              <a:ext cx="139283" cy="74362"/>
            </a:xfrm>
            <a:custGeom>
              <a:avLst/>
              <a:gdLst/>
              <a:ahLst/>
              <a:cxnLst/>
              <a:rect l="l" t="t" r="r" b="b"/>
              <a:pathLst>
                <a:path w="2877" h="1536" extrusionOk="0">
                  <a:moveTo>
                    <a:pt x="348" y="1"/>
                  </a:moveTo>
                  <a:cubicBezTo>
                    <a:pt x="155" y="1"/>
                    <a:pt x="0" y="156"/>
                    <a:pt x="0" y="349"/>
                  </a:cubicBezTo>
                  <a:lnTo>
                    <a:pt x="0" y="1188"/>
                  </a:lnTo>
                  <a:cubicBezTo>
                    <a:pt x="0" y="1381"/>
                    <a:pt x="155" y="1535"/>
                    <a:pt x="348" y="1535"/>
                  </a:cubicBezTo>
                  <a:lnTo>
                    <a:pt x="2529" y="1535"/>
                  </a:lnTo>
                  <a:cubicBezTo>
                    <a:pt x="2722" y="1535"/>
                    <a:pt x="2877" y="1381"/>
                    <a:pt x="2877" y="1188"/>
                  </a:cubicBezTo>
                  <a:lnTo>
                    <a:pt x="2877" y="349"/>
                  </a:lnTo>
                  <a:cubicBezTo>
                    <a:pt x="2877" y="156"/>
                    <a:pt x="2722" y="1"/>
                    <a:pt x="2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4"/>
            <p:cNvSpPr/>
            <p:nvPr/>
          </p:nvSpPr>
          <p:spPr>
            <a:xfrm>
              <a:off x="6485206" y="3965884"/>
              <a:ext cx="252762" cy="232138"/>
            </a:xfrm>
            <a:custGeom>
              <a:avLst/>
              <a:gdLst/>
              <a:ahLst/>
              <a:cxnLst/>
              <a:rect l="l" t="t" r="r" b="b"/>
              <a:pathLst>
                <a:path w="5221" h="4795" extrusionOk="0">
                  <a:moveTo>
                    <a:pt x="3358" y="0"/>
                  </a:moveTo>
                  <a:lnTo>
                    <a:pt x="0" y="4795"/>
                  </a:lnTo>
                  <a:lnTo>
                    <a:pt x="1863" y="4795"/>
                  </a:lnTo>
                  <a:lnTo>
                    <a:pt x="52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4"/>
            <p:cNvSpPr/>
            <p:nvPr/>
          </p:nvSpPr>
          <p:spPr>
            <a:xfrm>
              <a:off x="6851878" y="3967385"/>
              <a:ext cx="185904" cy="230637"/>
            </a:xfrm>
            <a:custGeom>
              <a:avLst/>
              <a:gdLst/>
              <a:ahLst/>
              <a:cxnLst/>
              <a:rect l="l" t="t" r="r" b="b"/>
              <a:pathLst>
                <a:path w="3840" h="4764" extrusionOk="0">
                  <a:moveTo>
                    <a:pt x="3336" y="1"/>
                  </a:moveTo>
                  <a:lnTo>
                    <a:pt x="1" y="4764"/>
                  </a:lnTo>
                  <a:lnTo>
                    <a:pt x="1862" y="4764"/>
                  </a:lnTo>
                  <a:lnTo>
                    <a:pt x="3839" y="1939"/>
                  </a:lnTo>
                  <a:lnTo>
                    <a:pt x="3839" y="670"/>
                  </a:lnTo>
                  <a:cubicBezTo>
                    <a:pt x="3839" y="352"/>
                    <a:pt x="3626" y="86"/>
                    <a:pt x="3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4"/>
            <p:cNvSpPr/>
            <p:nvPr/>
          </p:nvSpPr>
          <p:spPr>
            <a:xfrm>
              <a:off x="6668542" y="3965884"/>
              <a:ext cx="252762" cy="232138"/>
            </a:xfrm>
            <a:custGeom>
              <a:avLst/>
              <a:gdLst/>
              <a:ahLst/>
              <a:cxnLst/>
              <a:rect l="l" t="t" r="r" b="b"/>
              <a:pathLst>
                <a:path w="5221" h="4795" extrusionOk="0">
                  <a:moveTo>
                    <a:pt x="3358" y="0"/>
                  </a:moveTo>
                  <a:lnTo>
                    <a:pt x="1" y="4795"/>
                  </a:lnTo>
                  <a:lnTo>
                    <a:pt x="1863" y="4795"/>
                  </a:lnTo>
                  <a:lnTo>
                    <a:pt x="52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4"/>
            <p:cNvSpPr/>
            <p:nvPr/>
          </p:nvSpPr>
          <p:spPr>
            <a:xfrm>
              <a:off x="6365193" y="3965884"/>
              <a:ext cx="189390" cy="231412"/>
            </a:xfrm>
            <a:custGeom>
              <a:avLst/>
              <a:gdLst/>
              <a:ahLst/>
              <a:cxnLst/>
              <a:rect l="l" t="t" r="r" b="b"/>
              <a:pathLst>
                <a:path w="3912" h="4780" extrusionOk="0">
                  <a:moveTo>
                    <a:pt x="2050" y="0"/>
                  </a:moveTo>
                  <a:lnTo>
                    <a:pt x="0" y="2927"/>
                  </a:lnTo>
                  <a:lnTo>
                    <a:pt x="0" y="4092"/>
                  </a:lnTo>
                  <a:cubicBezTo>
                    <a:pt x="0" y="4433"/>
                    <a:pt x="243" y="4716"/>
                    <a:pt x="565" y="478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4"/>
            <p:cNvSpPr/>
            <p:nvPr/>
          </p:nvSpPr>
          <p:spPr>
            <a:xfrm>
              <a:off x="6365193" y="3965884"/>
              <a:ext cx="99246" cy="141703"/>
            </a:xfrm>
            <a:custGeom>
              <a:avLst/>
              <a:gdLst/>
              <a:ahLst/>
              <a:cxnLst/>
              <a:rect l="l" t="t" r="r" b="b"/>
              <a:pathLst>
                <a:path w="2050" h="2927" extrusionOk="0">
                  <a:moveTo>
                    <a:pt x="701" y="0"/>
                  </a:moveTo>
                  <a:cubicBezTo>
                    <a:pt x="314" y="0"/>
                    <a:pt x="0" y="314"/>
                    <a:pt x="0" y="701"/>
                  </a:cubicBezTo>
                  <a:lnTo>
                    <a:pt x="0" y="2927"/>
                  </a:lnTo>
                  <a:lnTo>
                    <a:pt x="20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4"/>
            <p:cNvSpPr/>
            <p:nvPr/>
          </p:nvSpPr>
          <p:spPr>
            <a:xfrm>
              <a:off x="6392498" y="3965884"/>
              <a:ext cx="255279" cy="232138"/>
            </a:xfrm>
            <a:custGeom>
              <a:avLst/>
              <a:gdLst/>
              <a:ahLst/>
              <a:cxnLst/>
              <a:rect l="l" t="t" r="r" b="b"/>
              <a:pathLst>
                <a:path w="5273" h="4795" extrusionOk="0">
                  <a:moveTo>
                    <a:pt x="3348" y="0"/>
                  </a:moveTo>
                  <a:lnTo>
                    <a:pt x="1" y="4780"/>
                  </a:lnTo>
                  <a:cubicBezTo>
                    <a:pt x="44" y="4789"/>
                    <a:pt x="90" y="4795"/>
                    <a:pt x="137" y="4795"/>
                  </a:cubicBezTo>
                  <a:lnTo>
                    <a:pt x="1915" y="4795"/>
                  </a:lnTo>
                  <a:lnTo>
                    <a:pt x="5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4"/>
            <p:cNvSpPr/>
            <p:nvPr/>
          </p:nvSpPr>
          <p:spPr>
            <a:xfrm>
              <a:off x="6575349" y="3965884"/>
              <a:ext cx="255812" cy="232138"/>
            </a:xfrm>
            <a:custGeom>
              <a:avLst/>
              <a:gdLst/>
              <a:ahLst/>
              <a:cxnLst/>
              <a:rect l="l" t="t" r="r" b="b"/>
              <a:pathLst>
                <a:path w="5284" h="4795" extrusionOk="0">
                  <a:moveTo>
                    <a:pt x="3358" y="0"/>
                  </a:moveTo>
                  <a:lnTo>
                    <a:pt x="1" y="4795"/>
                  </a:lnTo>
                  <a:lnTo>
                    <a:pt x="1926" y="4795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4"/>
            <p:cNvSpPr/>
            <p:nvPr/>
          </p:nvSpPr>
          <p:spPr>
            <a:xfrm>
              <a:off x="6758685" y="3965884"/>
              <a:ext cx="254698" cy="232138"/>
            </a:xfrm>
            <a:custGeom>
              <a:avLst/>
              <a:gdLst/>
              <a:ahLst/>
              <a:cxnLst/>
              <a:rect l="l" t="t" r="r" b="b"/>
              <a:pathLst>
                <a:path w="5261" h="4795" extrusionOk="0">
                  <a:moveTo>
                    <a:pt x="3358" y="0"/>
                  </a:moveTo>
                  <a:lnTo>
                    <a:pt x="1" y="4795"/>
                  </a:lnTo>
                  <a:lnTo>
                    <a:pt x="1926" y="4795"/>
                  </a:lnTo>
                  <a:lnTo>
                    <a:pt x="5261" y="32"/>
                  </a:lnTo>
                  <a:cubicBezTo>
                    <a:pt x="5198" y="14"/>
                    <a:pt x="5133" y="0"/>
                    <a:pt x="5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4"/>
            <p:cNvSpPr/>
            <p:nvPr/>
          </p:nvSpPr>
          <p:spPr>
            <a:xfrm>
              <a:off x="6942021" y="4061207"/>
              <a:ext cx="95808" cy="136814"/>
            </a:xfrm>
            <a:custGeom>
              <a:avLst/>
              <a:gdLst/>
              <a:ahLst/>
              <a:cxnLst/>
              <a:rect l="l" t="t" r="r" b="b"/>
              <a:pathLst>
                <a:path w="1979" h="2826" extrusionOk="0">
                  <a:moveTo>
                    <a:pt x="1979" y="1"/>
                  </a:moveTo>
                  <a:lnTo>
                    <a:pt x="1" y="2824"/>
                  </a:lnTo>
                  <a:lnTo>
                    <a:pt x="1276" y="2826"/>
                  </a:lnTo>
                  <a:cubicBezTo>
                    <a:pt x="1664" y="2826"/>
                    <a:pt x="1979" y="2511"/>
                    <a:pt x="1979" y="2123"/>
                  </a:cubicBezTo>
                  <a:lnTo>
                    <a:pt x="19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" name="Google Shape;233;p34"/>
            <p:cNvGrpSpPr/>
            <p:nvPr/>
          </p:nvGrpSpPr>
          <p:grpSpPr>
            <a:xfrm>
              <a:off x="6305163" y="3085901"/>
              <a:ext cx="792609" cy="776633"/>
              <a:chOff x="1794375" y="3085901"/>
              <a:chExt cx="792609" cy="776633"/>
            </a:xfrm>
          </p:grpSpPr>
          <p:sp>
            <p:nvSpPr>
              <p:cNvPr id="234" name="Google Shape;234;p34"/>
              <p:cNvSpPr/>
              <p:nvPr/>
            </p:nvSpPr>
            <p:spPr>
              <a:xfrm>
                <a:off x="1794375" y="3085901"/>
                <a:ext cx="792609" cy="776633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6042" extrusionOk="0">
                    <a:moveTo>
                      <a:pt x="8187" y="1"/>
                    </a:moveTo>
                    <a:cubicBezTo>
                      <a:pt x="7755" y="1"/>
                      <a:pt x="7322" y="166"/>
                      <a:pt x="6991" y="498"/>
                    </a:cubicBezTo>
                    <a:lnTo>
                      <a:pt x="663" y="6825"/>
                    </a:lnTo>
                    <a:cubicBezTo>
                      <a:pt x="1" y="7488"/>
                      <a:pt x="1" y="8554"/>
                      <a:pt x="663" y="9216"/>
                    </a:cubicBezTo>
                    <a:lnTo>
                      <a:pt x="6991" y="15544"/>
                    </a:lnTo>
                    <a:cubicBezTo>
                      <a:pt x="7322" y="15876"/>
                      <a:pt x="7755" y="16042"/>
                      <a:pt x="8187" y="16042"/>
                    </a:cubicBezTo>
                    <a:cubicBezTo>
                      <a:pt x="8619" y="16042"/>
                      <a:pt x="9051" y="15876"/>
                      <a:pt x="9382" y="15544"/>
                    </a:cubicBezTo>
                    <a:lnTo>
                      <a:pt x="15710" y="9216"/>
                    </a:lnTo>
                    <a:cubicBezTo>
                      <a:pt x="16372" y="8554"/>
                      <a:pt x="16372" y="7488"/>
                      <a:pt x="15710" y="6825"/>
                    </a:cubicBezTo>
                    <a:lnTo>
                      <a:pt x="9382" y="498"/>
                    </a:lnTo>
                    <a:cubicBezTo>
                      <a:pt x="9051" y="166"/>
                      <a:pt x="8619" y="1"/>
                      <a:pt x="81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5" name="Google Shape;235;p34"/>
              <p:cNvCxnSpPr/>
              <p:nvPr/>
            </p:nvCxnSpPr>
            <p:spPr>
              <a:xfrm>
                <a:off x="2015480" y="3474217"/>
                <a:ext cx="350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  <p:cxnSp>
        <p:nvCxnSpPr>
          <p:cNvPr id="236" name="Google Shape;236;p34"/>
          <p:cNvCxnSpPr/>
          <p:nvPr/>
        </p:nvCxnSpPr>
        <p:spPr>
          <a:xfrm>
            <a:off x="-1098325" y="4956150"/>
            <a:ext cx="22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image" Target="../media/image2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35"/>
          <p:cNvCxnSpPr/>
          <p:nvPr/>
        </p:nvCxnSpPr>
        <p:spPr>
          <a:xfrm>
            <a:off x="-71437" y="2470275"/>
            <a:ext cx="5444400" cy="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5" name="Google Shape;245;p35" title="logo-unipd-png-7-300x3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9275" y="191292"/>
            <a:ext cx="1163775" cy="11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4E855651-CE58-486B-AD5C-5E3DBD2C782A}"/>
              </a:ext>
            </a:extLst>
          </p:cNvPr>
          <p:cNvSpPr/>
          <p:nvPr/>
        </p:nvSpPr>
        <p:spPr>
          <a:xfrm>
            <a:off x="550499" y="604294"/>
            <a:ext cx="475016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it-IT" dirty="0">
                <a:solidFill>
                  <a:srgbClr val="2F96B5"/>
                </a:solidFill>
              </a:rPr>
            </a:br>
            <a:r>
              <a:rPr lang="it-IT" sz="5000" b="1" dirty="0" err="1">
                <a:solidFill>
                  <a:srgbClr val="0070C0"/>
                </a:solidFill>
                <a:latin typeface="Raleway" panose="020B0604020202020204" charset="0"/>
              </a:rPr>
              <a:t>GeoMedia</a:t>
            </a:r>
            <a:endParaRPr lang="it-IT" sz="5000" dirty="0">
              <a:solidFill>
                <a:srgbClr val="0070C0"/>
              </a:solidFill>
            </a:endParaRPr>
          </a:p>
          <a:p>
            <a:r>
              <a:rPr lang="it-IT" sz="2000" dirty="0">
                <a:solidFill>
                  <a:srgbClr val="0070C0"/>
                </a:solidFill>
                <a:latin typeface="Archivo" panose="020B0604020202020204" charset="0"/>
              </a:rPr>
              <a:t>A Mobile Platform for Location-</a:t>
            </a:r>
            <a:r>
              <a:rPr lang="it-IT" sz="2000" dirty="0" err="1">
                <a:solidFill>
                  <a:srgbClr val="0070C0"/>
                </a:solidFill>
                <a:latin typeface="Archivo" panose="020B0604020202020204" charset="0"/>
              </a:rPr>
              <a:t>Aware</a:t>
            </a:r>
            <a:r>
              <a:rPr lang="it-IT" sz="2000" dirty="0">
                <a:solidFill>
                  <a:srgbClr val="0070C0"/>
                </a:solidFill>
                <a:latin typeface="Archivo" panose="020B0604020202020204" charset="0"/>
              </a:rPr>
              <a:t> and Time-Sensitive Social Content</a:t>
            </a:r>
            <a:endParaRPr lang="it-IT" sz="2000" dirty="0">
              <a:solidFill>
                <a:srgbClr val="0070C0"/>
              </a:solidFill>
            </a:endParaRPr>
          </a:p>
          <a:p>
            <a:br>
              <a:rPr lang="it-IT" sz="1200" dirty="0">
                <a:solidFill>
                  <a:srgbClr val="2F96B5"/>
                </a:solidFill>
              </a:rPr>
            </a:br>
            <a:endParaRPr lang="it-IT" sz="1200" dirty="0">
              <a:solidFill>
                <a:srgbClr val="2F96B5"/>
              </a:solidFill>
            </a:endParaRPr>
          </a:p>
          <a:p>
            <a:r>
              <a:rPr lang="it-IT" dirty="0">
                <a:solidFill>
                  <a:schemeClr val="tx1"/>
                </a:solidFill>
                <a:latin typeface="Archivo" panose="020B0604020202020204" charset="0"/>
              </a:rPr>
              <a:t>Alberto Morini, Lorenzo </a:t>
            </a:r>
            <a:r>
              <a:rPr lang="it-IT" dirty="0" err="1">
                <a:solidFill>
                  <a:schemeClr val="tx1"/>
                </a:solidFill>
                <a:latin typeface="Archivo" panose="020B0604020202020204" charset="0"/>
              </a:rPr>
              <a:t>Perinello</a:t>
            </a:r>
            <a:r>
              <a:rPr lang="it-IT" dirty="0">
                <a:solidFill>
                  <a:schemeClr val="tx1"/>
                </a:solidFill>
                <a:latin typeface="Archivo" panose="020B0604020202020204" charset="0"/>
              </a:rPr>
              <a:t>, Claudio Enrico Palazzi</a:t>
            </a:r>
            <a:endParaRPr lang="it-IT" dirty="0">
              <a:solidFill>
                <a:schemeClr val="tx1"/>
              </a:solidFill>
            </a:endParaRPr>
          </a:p>
          <a:p>
            <a:br>
              <a:rPr lang="it-IT" dirty="0">
                <a:solidFill>
                  <a:srgbClr val="2F96B5"/>
                </a:solidFill>
              </a:rPr>
            </a:br>
            <a:endParaRPr lang="en-US" dirty="0">
              <a:solidFill>
                <a:srgbClr val="2F96B5"/>
              </a:solidFill>
            </a:endParaRPr>
          </a:p>
        </p:txBody>
      </p:sp>
      <p:pic>
        <p:nvPicPr>
          <p:cNvPr id="19" name="Picture 2" descr="https://goodit2025.idlab.uantwerpen.be/wp-content/uploads/2025/02/goodit-antwerp-1-300x163.png">
            <a:extLst>
              <a:ext uri="{FF2B5EF4-FFF2-40B4-BE49-F238E27FC236}">
                <a16:creationId xmlns:a16="http://schemas.microsoft.com/office/drawing/2014/main" id="{D995FA17-3B59-4778-915C-532C27C63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214" y="4100350"/>
            <a:ext cx="1567836" cy="85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Location based </a:t>
            </a:r>
            <a:r>
              <a:rPr lang="en-US" sz="2800" dirty="0">
                <a:solidFill>
                  <a:srgbClr val="0070C0"/>
                </a:solidFill>
              </a:rPr>
              <a:t>Applications</a:t>
            </a:r>
            <a:endParaRPr sz="2800" dirty="0">
              <a:solidFill>
                <a:srgbClr val="0070C0"/>
              </a:solidFill>
            </a:endParaRPr>
          </a:p>
        </p:txBody>
      </p:sp>
      <p:pic>
        <p:nvPicPr>
          <p:cNvPr id="251" name="Google Shape;251;p36" title="instagram-location-search-place-page-23125665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647" y="1155803"/>
            <a:ext cx="1772728" cy="30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 title="3_foursquare_swarm_check_i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6894" y="1155803"/>
            <a:ext cx="1693869" cy="30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6" title="GMaps_P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3009" y="1155803"/>
            <a:ext cx="1553900" cy="30033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6"/>
          <p:cNvSpPr txBox="1"/>
          <p:nvPr/>
        </p:nvSpPr>
        <p:spPr>
          <a:xfrm>
            <a:off x="936076" y="4299453"/>
            <a:ext cx="14331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Instagram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5" name="Google Shape;255;p36"/>
          <p:cNvSpPr txBox="1"/>
          <p:nvPr/>
        </p:nvSpPr>
        <p:spPr>
          <a:xfrm>
            <a:off x="3616894" y="4267903"/>
            <a:ext cx="16938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Foursquare swarm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6315890" y="4262303"/>
            <a:ext cx="14331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Google Maps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58" name="Google Shape;258;p36"/>
          <p:cNvCxnSpPr/>
          <p:nvPr/>
        </p:nvCxnSpPr>
        <p:spPr>
          <a:xfrm rot="10800000" flipH="1">
            <a:off x="-147081" y="7743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7255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0070C0"/>
                </a:solidFill>
              </a:rPr>
              <a:t>GeoMedia</a:t>
            </a:r>
            <a:endParaRPr sz="2800" dirty="0">
              <a:solidFill>
                <a:srgbClr val="0070C0"/>
              </a:solidFill>
            </a:endParaRPr>
          </a:p>
        </p:txBody>
      </p:sp>
      <p:cxnSp>
        <p:nvCxnSpPr>
          <p:cNvPr id="258" name="Google Shape;258;p36"/>
          <p:cNvCxnSpPr/>
          <p:nvPr/>
        </p:nvCxnSpPr>
        <p:spPr>
          <a:xfrm rot="10800000" flipH="1">
            <a:off x="-147081" y="7743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266;p37">
            <a:extLst>
              <a:ext uri="{FF2B5EF4-FFF2-40B4-BE49-F238E27FC236}">
                <a16:creationId xmlns:a16="http://schemas.microsoft.com/office/drawing/2014/main" id="{BF2EBD45-A0D3-49E1-B10E-268A6645F6BE}"/>
              </a:ext>
            </a:extLst>
          </p:cNvPr>
          <p:cNvSpPr txBox="1"/>
          <p:nvPr/>
        </p:nvSpPr>
        <p:spPr>
          <a:xfrm>
            <a:off x="2947948" y="1105797"/>
            <a:ext cx="5260221" cy="95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 err="1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GeoMedia</a:t>
            </a:r>
            <a:endParaRPr lang="it-IT" sz="1800"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A mobile application and social network </a:t>
            </a: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that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anchors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multimedia to </a:t>
            </a: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real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-world geographic </a:t>
            </a: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locations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and time</a:t>
            </a:r>
            <a:endParaRPr sz="1600"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" name="Google Shape;267;p37">
            <a:extLst>
              <a:ext uri="{FF2B5EF4-FFF2-40B4-BE49-F238E27FC236}">
                <a16:creationId xmlns:a16="http://schemas.microsoft.com/office/drawing/2014/main" id="{C52C79C1-6B42-47C1-A5E2-AFB5CE7E97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78" y="1176475"/>
            <a:ext cx="1633875" cy="366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70;p37" title="location-pin(4).png">
            <a:extLst>
              <a:ext uri="{FF2B5EF4-FFF2-40B4-BE49-F238E27FC236}">
                <a16:creationId xmlns:a16="http://schemas.microsoft.com/office/drawing/2014/main" id="{569D34C2-5C69-4698-9B98-95B350E2A01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960" y="2183958"/>
            <a:ext cx="464774" cy="46477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1;p37">
            <a:extLst>
              <a:ext uri="{FF2B5EF4-FFF2-40B4-BE49-F238E27FC236}">
                <a16:creationId xmlns:a16="http://schemas.microsoft.com/office/drawing/2014/main" id="{C9399C42-421D-46F5-9CDD-41EA9FCFDF78}"/>
              </a:ext>
            </a:extLst>
          </p:cNvPr>
          <p:cNvSpPr txBox="1"/>
          <p:nvPr/>
        </p:nvSpPr>
        <p:spPr>
          <a:xfrm>
            <a:off x="3412734" y="2183958"/>
            <a:ext cx="436683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The user current position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" name="Google Shape;272;p37">
            <a:extLst>
              <a:ext uri="{FF2B5EF4-FFF2-40B4-BE49-F238E27FC236}">
                <a16:creationId xmlns:a16="http://schemas.microsoft.com/office/drawing/2014/main" id="{AD89E3F5-8FA2-49E1-BF4E-A58A2C79B9D2}"/>
              </a:ext>
            </a:extLst>
          </p:cNvPr>
          <p:cNvSpPr txBox="1"/>
          <p:nvPr/>
        </p:nvSpPr>
        <p:spPr>
          <a:xfrm>
            <a:off x="3412697" y="2867259"/>
            <a:ext cx="436683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Post with just text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273;p37">
            <a:extLst>
              <a:ext uri="{FF2B5EF4-FFF2-40B4-BE49-F238E27FC236}">
                <a16:creationId xmlns:a16="http://schemas.microsoft.com/office/drawing/2014/main" id="{D60B77FF-CA21-471A-9887-076B60D35E8B}"/>
              </a:ext>
            </a:extLst>
          </p:cNvPr>
          <p:cNvSpPr txBox="1"/>
          <p:nvPr/>
        </p:nvSpPr>
        <p:spPr>
          <a:xfrm>
            <a:off x="3412709" y="3566148"/>
            <a:ext cx="436683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Post with media attachment (photos, videos, audio)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" name="Google Shape;274;p37">
            <a:extLst>
              <a:ext uri="{FF2B5EF4-FFF2-40B4-BE49-F238E27FC236}">
                <a16:creationId xmlns:a16="http://schemas.microsoft.com/office/drawing/2014/main" id="{4081F66F-59A9-42D4-AF8B-CA0FA34EB304}"/>
              </a:ext>
            </a:extLst>
          </p:cNvPr>
          <p:cNvSpPr txBox="1"/>
          <p:nvPr/>
        </p:nvSpPr>
        <p:spPr>
          <a:xfrm>
            <a:off x="3458372" y="4319320"/>
            <a:ext cx="436683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Exclusive content (by time or geographical area)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1" name="Google Shape;275;p37" title="location-pin(1).png">
            <a:extLst>
              <a:ext uri="{FF2B5EF4-FFF2-40B4-BE49-F238E27FC236}">
                <a16:creationId xmlns:a16="http://schemas.microsoft.com/office/drawing/2014/main" id="{7E101603-1F13-4EEE-BD27-7EEBFBA9981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7948" y="2833959"/>
            <a:ext cx="464750" cy="4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76;p37" title="location-pin(2).png">
            <a:extLst>
              <a:ext uri="{FF2B5EF4-FFF2-40B4-BE49-F238E27FC236}">
                <a16:creationId xmlns:a16="http://schemas.microsoft.com/office/drawing/2014/main" id="{7035D857-B462-4103-9A09-383D5A09FD6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7960" y="3549498"/>
            <a:ext cx="464750" cy="4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77;p37" title="location-pin(3).png">
            <a:extLst>
              <a:ext uri="{FF2B5EF4-FFF2-40B4-BE49-F238E27FC236}">
                <a16:creationId xmlns:a16="http://schemas.microsoft.com/office/drawing/2014/main" id="{7A0C85B9-A83B-4CD0-914E-7D92A1BDD84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3623" y="4242186"/>
            <a:ext cx="464774" cy="464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793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dirty="0" err="1">
                <a:solidFill>
                  <a:srgbClr val="0070C0"/>
                </a:solidFill>
              </a:rPr>
              <a:t>GeoMedia</a:t>
            </a:r>
            <a:r>
              <a:rPr lang="it-IT" sz="2800" dirty="0">
                <a:solidFill>
                  <a:srgbClr val="0070C0"/>
                </a:solidFill>
              </a:rPr>
              <a:t> O</a:t>
            </a:r>
            <a:r>
              <a:rPr lang="en-US" sz="2800" dirty="0" err="1">
                <a:solidFill>
                  <a:srgbClr val="0070C0"/>
                </a:solidFill>
              </a:rPr>
              <a:t>ptions</a:t>
            </a:r>
            <a:endParaRPr sz="2800" dirty="0">
              <a:solidFill>
                <a:srgbClr val="0070C0"/>
              </a:solidFill>
            </a:endParaRPr>
          </a:p>
        </p:txBody>
      </p:sp>
      <p:cxnSp>
        <p:nvCxnSpPr>
          <p:cNvPr id="258" name="Google Shape;258;p36"/>
          <p:cNvCxnSpPr/>
          <p:nvPr/>
        </p:nvCxnSpPr>
        <p:spPr>
          <a:xfrm rot="10800000" flipH="1">
            <a:off x="-147081" y="7743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266;p37">
            <a:extLst>
              <a:ext uri="{FF2B5EF4-FFF2-40B4-BE49-F238E27FC236}">
                <a16:creationId xmlns:a16="http://schemas.microsoft.com/office/drawing/2014/main" id="{BF2EBD45-A0D3-49E1-B10E-268A6645F6BE}"/>
              </a:ext>
            </a:extLst>
          </p:cNvPr>
          <p:cNvSpPr txBox="1"/>
          <p:nvPr/>
        </p:nvSpPr>
        <p:spPr>
          <a:xfrm>
            <a:off x="4248480" y="1250969"/>
            <a:ext cx="4527567" cy="92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An application </a:t>
            </a: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layer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can be </a:t>
            </a:r>
            <a:r>
              <a:rPr lang="it-IT" sz="1600" dirty="0" err="1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created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by a user and can </a:t>
            </a: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accept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posts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by 1 or more </a:t>
            </a: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creators</a:t>
            </a:r>
            <a:endParaRPr lang="it-IT" sz="1600"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600"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600"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Posts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can be </a:t>
            </a:r>
            <a:r>
              <a:rPr lang="it-IT" sz="1600" dirty="0" err="1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accessed</a:t>
            </a:r>
            <a:r>
              <a:rPr lang="it-IT" sz="16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…</a:t>
            </a:r>
            <a:endParaRPr sz="1600"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" name="Google Shape;271;p37">
            <a:extLst>
              <a:ext uri="{FF2B5EF4-FFF2-40B4-BE49-F238E27FC236}">
                <a16:creationId xmlns:a16="http://schemas.microsoft.com/office/drawing/2014/main" id="{C9399C42-421D-46F5-9CDD-41EA9FCFDF78}"/>
              </a:ext>
            </a:extLst>
          </p:cNvPr>
          <p:cNvSpPr txBox="1"/>
          <p:nvPr/>
        </p:nvSpPr>
        <p:spPr>
          <a:xfrm>
            <a:off x="4910868" y="2609020"/>
            <a:ext cx="374532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by </a:t>
            </a: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anyone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by a group, by a single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" name="Google Shape;272;p37">
            <a:extLst>
              <a:ext uri="{FF2B5EF4-FFF2-40B4-BE49-F238E27FC236}">
                <a16:creationId xmlns:a16="http://schemas.microsoft.com/office/drawing/2014/main" id="{AD89E3F5-8FA2-49E1-BF4E-A58A2C79B9D2}"/>
              </a:ext>
            </a:extLst>
          </p:cNvPr>
          <p:cNvSpPr txBox="1"/>
          <p:nvPr/>
        </p:nvSpPr>
        <p:spPr>
          <a:xfrm>
            <a:off x="4910868" y="3630275"/>
            <a:ext cx="374532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always, for a limited period, periodically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273;p37">
            <a:extLst>
              <a:ext uri="{FF2B5EF4-FFF2-40B4-BE49-F238E27FC236}">
                <a16:creationId xmlns:a16="http://schemas.microsoft.com/office/drawing/2014/main" id="{D60B77FF-CA21-471A-9887-076B60D35E8B}"/>
              </a:ext>
            </a:extLst>
          </p:cNvPr>
          <p:cNvSpPr txBox="1"/>
          <p:nvPr/>
        </p:nvSpPr>
        <p:spPr>
          <a:xfrm>
            <a:off x="4903053" y="3089905"/>
            <a:ext cx="374532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when closer than a predefined distance</a:t>
            </a:r>
            <a:endParaRPr u="sng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" name="Google Shape;274;p37">
            <a:extLst>
              <a:ext uri="{FF2B5EF4-FFF2-40B4-BE49-F238E27FC236}">
                <a16:creationId xmlns:a16="http://schemas.microsoft.com/office/drawing/2014/main" id="{4081F66F-59A9-42D4-AF8B-CA0FA34EB304}"/>
              </a:ext>
            </a:extLst>
          </p:cNvPr>
          <p:cNvSpPr txBox="1"/>
          <p:nvPr/>
        </p:nvSpPr>
        <p:spPr>
          <a:xfrm>
            <a:off x="4910868" y="4207573"/>
            <a:ext cx="374532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randomly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after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having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consumed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others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" name="Elemento grafico 2" descr="Figli">
            <a:extLst>
              <a:ext uri="{FF2B5EF4-FFF2-40B4-BE49-F238E27FC236}">
                <a16:creationId xmlns:a16="http://schemas.microsoft.com/office/drawing/2014/main" id="{04CD38F9-833D-48D1-B086-CB38EBCB7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5305" y="2617735"/>
            <a:ext cx="382974" cy="399619"/>
          </a:xfrm>
          <a:prstGeom prst="rect">
            <a:avLst/>
          </a:prstGeom>
        </p:spPr>
      </p:pic>
      <p:pic>
        <p:nvPicPr>
          <p:cNvPr id="9" name="Elemento grafico 8" descr="Righello">
            <a:extLst>
              <a:ext uri="{FF2B5EF4-FFF2-40B4-BE49-F238E27FC236}">
                <a16:creationId xmlns:a16="http://schemas.microsoft.com/office/drawing/2014/main" id="{D3412010-9ADA-43A9-A180-22E1DBA11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6164" y="3089095"/>
            <a:ext cx="354300" cy="354300"/>
          </a:xfrm>
          <a:prstGeom prst="rect">
            <a:avLst/>
          </a:prstGeom>
        </p:spPr>
      </p:pic>
      <p:pic>
        <p:nvPicPr>
          <p:cNvPr id="11" name="Elemento grafico 10" descr="Cronometro">
            <a:extLst>
              <a:ext uri="{FF2B5EF4-FFF2-40B4-BE49-F238E27FC236}">
                <a16:creationId xmlns:a16="http://schemas.microsoft.com/office/drawing/2014/main" id="{A15E7E59-4282-469D-B20A-84AF7A0CF6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6538" y="3611361"/>
            <a:ext cx="415568" cy="415568"/>
          </a:xfrm>
          <a:prstGeom prst="rect">
            <a:avLst/>
          </a:prstGeom>
        </p:spPr>
      </p:pic>
      <p:pic>
        <p:nvPicPr>
          <p:cNvPr id="15" name="Elemento grafico 14" descr="Elenco di controllo da destra a sinistra">
            <a:extLst>
              <a:ext uri="{FF2B5EF4-FFF2-40B4-BE49-F238E27FC236}">
                <a16:creationId xmlns:a16="http://schemas.microsoft.com/office/drawing/2014/main" id="{E4146014-D1EA-42A2-B3A3-554C27C00C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13979" y="4227458"/>
            <a:ext cx="378127" cy="378127"/>
          </a:xfrm>
          <a:prstGeom prst="rect">
            <a:avLst/>
          </a:prstGeom>
        </p:spPr>
      </p:pic>
      <p:pic>
        <p:nvPicPr>
          <p:cNvPr id="26" name="Google Shape;285;p38" title="DataOra.png">
            <a:extLst>
              <a:ext uri="{FF2B5EF4-FFF2-40B4-BE49-F238E27FC236}">
                <a16:creationId xmlns:a16="http://schemas.microsoft.com/office/drawing/2014/main" id="{C2459E63-5717-4C4F-A056-FD31B95B2769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2045" y="1172837"/>
            <a:ext cx="1737187" cy="365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92;p39">
            <a:extLst>
              <a:ext uri="{FF2B5EF4-FFF2-40B4-BE49-F238E27FC236}">
                <a16:creationId xmlns:a16="http://schemas.microsoft.com/office/drawing/2014/main" id="{2ADFD618-5F18-489E-B32B-A262AF16007F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70882" y="1172837"/>
            <a:ext cx="1765949" cy="3656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789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Architecture</a:t>
            </a:r>
            <a:endParaRPr sz="2800" dirty="0">
              <a:solidFill>
                <a:srgbClr val="0070C0"/>
              </a:solidFill>
            </a:endParaRPr>
          </a:p>
        </p:txBody>
      </p:sp>
      <p:pic>
        <p:nvPicPr>
          <p:cNvPr id="303" name="Google Shape;303;p40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43" y="1240825"/>
            <a:ext cx="3544300" cy="294822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 txBox="1"/>
          <p:nvPr/>
        </p:nvSpPr>
        <p:spPr>
          <a:xfrm>
            <a:off x="4358058" y="1229776"/>
            <a:ext cx="414508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Monolithic client-server </a:t>
            </a:r>
            <a:r>
              <a:rPr lang="en" sz="16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</a:t>
            </a:r>
            <a:r>
              <a:rPr lang="en-US" sz="1600" i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currently</a:t>
            </a:r>
            <a:r>
              <a:rPr lang="en-US" sz="16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sz="16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06" name="Google Shape;306;p40"/>
          <p:cNvCxnSpPr/>
          <p:nvPr/>
        </p:nvCxnSpPr>
        <p:spPr>
          <a:xfrm rot="10800000" flipH="1">
            <a:off x="-125650" y="7584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492953A2-06BF-4423-8916-5D76BA48B6B0}"/>
              </a:ext>
            </a:extLst>
          </p:cNvPr>
          <p:cNvSpPr/>
          <p:nvPr/>
        </p:nvSpPr>
        <p:spPr>
          <a:xfrm>
            <a:off x="4425365" y="1697952"/>
            <a:ext cx="37573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Mobile app developed with Flutter (cross-platform)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Firebase backend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Open-source on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tangolo 22">
            <a:extLst>
              <a:ext uri="{FF2B5EF4-FFF2-40B4-BE49-F238E27FC236}">
                <a16:creationId xmlns:a16="http://schemas.microsoft.com/office/drawing/2014/main" id="{EEA9FC48-2A63-4CB3-B910-3994F197C748}"/>
              </a:ext>
            </a:extLst>
          </p:cNvPr>
          <p:cNvSpPr/>
          <p:nvPr/>
        </p:nvSpPr>
        <p:spPr>
          <a:xfrm>
            <a:off x="4764892" y="1116040"/>
            <a:ext cx="3786187" cy="3754383"/>
          </a:xfrm>
          <a:prstGeom prst="rect">
            <a:avLst/>
          </a:prstGeom>
          <a:solidFill>
            <a:schemeClr val="accent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2B00D9AC-07DA-4CF8-8DBC-CA9B97BB84CC}"/>
              </a:ext>
            </a:extLst>
          </p:cNvPr>
          <p:cNvSpPr/>
          <p:nvPr/>
        </p:nvSpPr>
        <p:spPr>
          <a:xfrm>
            <a:off x="514353" y="1116040"/>
            <a:ext cx="3786187" cy="3754383"/>
          </a:xfrm>
          <a:prstGeom prst="rect">
            <a:avLst/>
          </a:prstGeom>
          <a:solidFill>
            <a:schemeClr val="accent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Google Shape;250;p36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70C0"/>
                </a:solidFill>
              </a:rPr>
              <a:t>Use Cases</a:t>
            </a:r>
            <a:endParaRPr sz="2800" dirty="0">
              <a:solidFill>
                <a:srgbClr val="0070C0"/>
              </a:solidFill>
            </a:endParaRPr>
          </a:p>
        </p:txBody>
      </p:sp>
      <p:cxnSp>
        <p:nvCxnSpPr>
          <p:cNvPr id="258" name="Google Shape;258;p36"/>
          <p:cNvCxnSpPr/>
          <p:nvPr/>
        </p:nvCxnSpPr>
        <p:spPr>
          <a:xfrm rot="10800000" flipH="1">
            <a:off x="-147081" y="7743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magine 2">
            <a:extLst>
              <a:ext uri="{FF2B5EF4-FFF2-40B4-BE49-F238E27FC236}">
                <a16:creationId xmlns:a16="http://schemas.microsoft.com/office/drawing/2014/main" id="{1A79046B-76CE-44C5-B1E4-1FEFFEADD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77" y="1184937"/>
            <a:ext cx="1780407" cy="178040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8B740D2-95B2-4374-969B-774BD13EA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695" y="1184937"/>
            <a:ext cx="1780408" cy="178040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50E61E8-C12F-40A1-8C87-8B05FE9A9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76" y="3032906"/>
            <a:ext cx="1780407" cy="178040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6D7CEC3-F359-4140-93B0-2DABF1166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695" y="3032906"/>
            <a:ext cx="1780407" cy="1780407"/>
          </a:xfrm>
          <a:prstGeom prst="rect">
            <a:avLst/>
          </a:prstGeom>
        </p:spPr>
      </p:pic>
      <p:sp>
        <p:nvSpPr>
          <p:cNvPr id="16" name="Google Shape;266;p37">
            <a:extLst>
              <a:ext uri="{FF2B5EF4-FFF2-40B4-BE49-F238E27FC236}">
                <a16:creationId xmlns:a16="http://schemas.microsoft.com/office/drawing/2014/main" id="{27A69B15-7EBE-4378-92C3-1196CA38A644}"/>
              </a:ext>
            </a:extLst>
          </p:cNvPr>
          <p:cNvSpPr txBox="1"/>
          <p:nvPr/>
        </p:nvSpPr>
        <p:spPr>
          <a:xfrm>
            <a:off x="4879193" y="1280839"/>
            <a:ext cx="3557587" cy="68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1600" b="1" dirty="0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I</a:t>
            </a:r>
            <a:r>
              <a:rPr lang="en-US" sz="1600" b="1" dirty="0" err="1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nteractive</a:t>
            </a:r>
            <a:r>
              <a:rPr lang="en-US" sz="1600" b="1" dirty="0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 experiences</a:t>
            </a:r>
            <a:br>
              <a:rPr lang="en-US" sz="1600" u="sng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en-US" sz="1200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Educational or cultural virtual guides/tours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" name="Google Shape;266;p37">
            <a:extLst>
              <a:ext uri="{FF2B5EF4-FFF2-40B4-BE49-F238E27FC236}">
                <a16:creationId xmlns:a16="http://schemas.microsoft.com/office/drawing/2014/main" id="{7F9983D2-CEEA-45D8-B2B8-C22B8C68FA4E}"/>
              </a:ext>
            </a:extLst>
          </p:cNvPr>
          <p:cNvSpPr txBox="1"/>
          <p:nvPr/>
        </p:nvSpPr>
        <p:spPr>
          <a:xfrm>
            <a:off x="4879193" y="1963766"/>
            <a:ext cx="3557587" cy="68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b="1" dirty="0">
                <a:solidFill>
                  <a:srgbClr val="0070C0"/>
                </a:solidFill>
                <a:latin typeface="Archivo"/>
                <a:cs typeface="Archivo"/>
                <a:sym typeface="Archivo"/>
              </a:rPr>
              <a:t>Location based games</a:t>
            </a:r>
            <a:br>
              <a:rPr lang="en-US" sz="1200" b="1" dirty="0">
                <a:solidFill>
                  <a:srgbClr val="0070C0"/>
                </a:solidFill>
                <a:latin typeface="Archivo"/>
                <a:cs typeface="Archivo"/>
                <a:sym typeface="Archivo"/>
              </a:rPr>
            </a:br>
            <a:r>
              <a:rPr lang="en-US" sz="1200" dirty="0">
                <a:solidFill>
                  <a:srgbClr val="3A3233"/>
                </a:solidFill>
                <a:latin typeface="Archivo"/>
                <a:cs typeface="Archivo"/>
                <a:sym typeface="Archivo"/>
              </a:rPr>
              <a:t>Digital scavenger hunts or role-play games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266;p37">
            <a:extLst>
              <a:ext uri="{FF2B5EF4-FFF2-40B4-BE49-F238E27FC236}">
                <a16:creationId xmlns:a16="http://schemas.microsoft.com/office/drawing/2014/main" id="{F1C0D9F9-EBFF-427D-8B5A-A19F601AE982}"/>
              </a:ext>
            </a:extLst>
          </p:cNvPr>
          <p:cNvSpPr txBox="1"/>
          <p:nvPr/>
        </p:nvSpPr>
        <p:spPr>
          <a:xfrm>
            <a:off x="4879193" y="2718326"/>
            <a:ext cx="3557587" cy="736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b="1" dirty="0">
                <a:solidFill>
                  <a:srgbClr val="0070C0"/>
                </a:solidFill>
                <a:latin typeface="Archivo"/>
                <a:cs typeface="Archivo"/>
                <a:sym typeface="Archivo"/>
              </a:rPr>
              <a:t>Virtual mural/graffiti</a:t>
            </a:r>
            <a:br>
              <a:rPr lang="en-US" sz="1600" dirty="0">
                <a:solidFill>
                  <a:srgbClr val="3A3233"/>
                </a:solidFill>
                <a:latin typeface="Archivo"/>
                <a:cs typeface="Archivo"/>
                <a:sym typeface="Archivo"/>
              </a:rPr>
            </a:br>
            <a:r>
              <a:rPr lang="en-US" sz="1200" dirty="0">
                <a:solidFill>
                  <a:srgbClr val="3A3233"/>
                </a:solidFill>
                <a:latin typeface="Archivo"/>
                <a:cs typeface="Archivo"/>
                <a:sym typeface="Archivo"/>
              </a:rPr>
              <a:t>Digital artwork anchored to a real-world location even created collaboratively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" name="Google Shape;266;p37">
            <a:extLst>
              <a:ext uri="{FF2B5EF4-FFF2-40B4-BE49-F238E27FC236}">
                <a16:creationId xmlns:a16="http://schemas.microsoft.com/office/drawing/2014/main" id="{4D7CE194-61DB-4306-A4DD-BC34ABC23EE3}"/>
              </a:ext>
            </a:extLst>
          </p:cNvPr>
          <p:cNvSpPr txBox="1"/>
          <p:nvPr/>
        </p:nvSpPr>
        <p:spPr>
          <a:xfrm>
            <a:off x="4879193" y="3554924"/>
            <a:ext cx="3557587" cy="111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rgbClr val="0070C0"/>
                </a:solidFill>
                <a:latin typeface="Archivo"/>
                <a:cs typeface="Archivo"/>
              </a:rPr>
              <a:t>Personalized messages</a:t>
            </a:r>
            <a:br>
              <a:rPr lang="en-US" dirty="0">
                <a:solidFill>
                  <a:srgbClr val="3A3233"/>
                </a:solidFill>
                <a:latin typeface="Archivo"/>
                <a:cs typeface="Archivo"/>
              </a:rPr>
            </a:br>
            <a:r>
              <a:rPr lang="en-US" sz="1200" dirty="0">
                <a:solidFill>
                  <a:srgbClr val="3A3233"/>
                </a:solidFill>
                <a:latin typeface="Archivo"/>
                <a:cs typeface="Archivo"/>
              </a:rPr>
              <a:t>One-to-one posts only visible to a specific recipient near a designated location (surprise message, memento picture, intimate storytelling)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203683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4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Conclusion</a:t>
            </a:r>
            <a:endParaRPr sz="2800" dirty="0">
              <a:solidFill>
                <a:srgbClr val="0070C0"/>
              </a:solidFill>
            </a:endParaRPr>
          </a:p>
        </p:txBody>
      </p:sp>
      <p:cxnSp>
        <p:nvCxnSpPr>
          <p:cNvPr id="340" name="Google Shape;340;p44"/>
          <p:cNvCxnSpPr/>
          <p:nvPr/>
        </p:nvCxnSpPr>
        <p:spPr>
          <a:xfrm rot="10800000" flipH="1">
            <a:off x="-125650" y="7584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" name="Google Shape;341;p44"/>
          <p:cNvSpPr txBox="1"/>
          <p:nvPr/>
        </p:nvSpPr>
        <p:spPr>
          <a:xfrm>
            <a:off x="343450" y="986800"/>
            <a:ext cx="8351400" cy="3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sz="1600" dirty="0" err="1">
                <a:latin typeface="Archivo" panose="020B0604020202020204" charset="0"/>
                <a:cs typeface="Archivo" panose="020B0604020202020204" charset="0"/>
              </a:rPr>
              <a:t>GeoMedia</a:t>
            </a: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 enhances location-based engagement</a:t>
            </a:r>
          </a:p>
          <a:p>
            <a:pPr marL="457200" indent="-317500">
              <a:lnSpc>
                <a:spcPct val="150000"/>
              </a:lnSpc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Empowers users to link content with real space and generate new services</a:t>
            </a:r>
          </a:p>
          <a:p>
            <a:pPr marL="457200" indent="-317500">
              <a:lnSpc>
                <a:spcPct val="150000"/>
              </a:lnSpc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Preliminary user feedback positive</a:t>
            </a:r>
          </a:p>
          <a:p>
            <a:pPr marL="457200" indent="-317500">
              <a:lnSpc>
                <a:spcPct val="150000"/>
              </a:lnSpc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Lays foundation for further research &amp; innovation</a:t>
            </a:r>
            <a:endParaRPr lang="en" sz="1600" dirty="0">
              <a:solidFill>
                <a:schemeClr val="dk1"/>
              </a:solidFill>
              <a:latin typeface="Archivo" panose="020B0604020202020204" charset="0"/>
              <a:ea typeface="Archivo"/>
              <a:cs typeface="Archivo" panose="020B0604020202020204" charset="0"/>
              <a:sym typeface="Archivo"/>
            </a:endParaRPr>
          </a:p>
          <a:p>
            <a:pPr marL="457200" lvl="1" indent="-317500">
              <a:lnSpc>
                <a:spcPct val="150000"/>
              </a:lnSpc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sz="1600" dirty="0">
                <a:solidFill>
                  <a:schemeClr val="dk1"/>
                </a:solidFill>
                <a:latin typeface="Archivo" panose="020B0604020202020204" charset="0"/>
                <a:ea typeface="Archivo"/>
                <a:cs typeface="Archivo" panose="020B0604020202020204" charset="0"/>
                <a:sym typeface="Archivo"/>
              </a:rPr>
              <a:t>Flexible framework to integrate other ideas and more features (</a:t>
            </a:r>
            <a:r>
              <a:rPr lang="en-US" sz="1600" dirty="0">
                <a:solidFill>
                  <a:schemeClr val="dk1"/>
                </a:solidFill>
                <a:latin typeface="Archivo" panose="020B0604020202020204" charset="0"/>
                <a:ea typeface="Archivo"/>
                <a:cs typeface="Archivo" panose="020B0604020202020204" charset="0"/>
                <a:sym typeface="Archivo"/>
              </a:rPr>
              <a:t>VR/AR, NFC, BT…)</a:t>
            </a:r>
            <a:endParaRPr lang="it-IT" dirty="0">
              <a:solidFill>
                <a:schemeClr val="dk1"/>
              </a:solidFill>
              <a:latin typeface="Archivo" panose="020B0604020202020204" charset="0"/>
              <a:ea typeface="Archivo"/>
              <a:cs typeface="Archivo" panose="020B0604020202020204" charset="0"/>
              <a:sym typeface="Archivo"/>
            </a:endParaRPr>
          </a:p>
          <a:p>
            <a:pPr marL="457200" lvl="1" indent="-317500">
              <a:buClr>
                <a:schemeClr val="dk1"/>
              </a:buClr>
              <a:buSzPts val="1400"/>
              <a:buFont typeface="Archivo"/>
              <a:buChar char="●"/>
            </a:pPr>
            <a:endParaRPr lang="it-IT" dirty="0">
              <a:solidFill>
                <a:schemeClr val="dk1"/>
              </a:solidFill>
              <a:latin typeface="Archivo" panose="020B0604020202020204" charset="0"/>
              <a:ea typeface="Archivo"/>
              <a:cs typeface="Archivo" panose="020B0604020202020204" charset="0"/>
              <a:sym typeface="Archivo"/>
            </a:endParaRPr>
          </a:p>
          <a:p>
            <a:pPr marL="139700" lvl="1"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lang="it-IT" sz="1600" b="1" dirty="0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Future Work</a:t>
            </a:r>
          </a:p>
          <a:p>
            <a:pPr marL="457200" lvl="1" indent="-317500">
              <a:lnSpc>
                <a:spcPct val="150000"/>
              </a:lnSpc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Battery &amp; data consumption from GPS</a:t>
            </a:r>
          </a:p>
          <a:p>
            <a:pPr marL="457200" lvl="1" indent="-317500">
              <a:lnSpc>
                <a:spcPct val="150000"/>
              </a:lnSpc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Scalability of backend</a:t>
            </a:r>
          </a:p>
          <a:p>
            <a:pPr marL="457200" lvl="1" indent="-317500">
              <a:lnSpc>
                <a:spcPct val="150000"/>
              </a:lnSpc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-US" sz="1600" dirty="0">
                <a:latin typeface="Archivo" panose="020B0604020202020204" charset="0"/>
                <a:cs typeface="Archivo" panose="020B0604020202020204" charset="0"/>
              </a:rPr>
              <a:t>Ensuring content moderation</a:t>
            </a:r>
            <a:endParaRPr sz="1600" b="1" dirty="0">
              <a:solidFill>
                <a:srgbClr val="0070C0"/>
              </a:solidFill>
              <a:latin typeface="Archivo" panose="020B0604020202020204" charset="0"/>
              <a:ea typeface="Archivo"/>
              <a:cs typeface="Archivo" panose="020B0604020202020204" charset="0"/>
              <a:sym typeface="Archivo"/>
            </a:endParaRPr>
          </a:p>
        </p:txBody>
      </p:sp>
      <p:sp>
        <p:nvSpPr>
          <p:cNvPr id="5" name="Google Shape;346;p45">
            <a:extLst>
              <a:ext uri="{FF2B5EF4-FFF2-40B4-BE49-F238E27FC236}">
                <a16:creationId xmlns:a16="http://schemas.microsoft.com/office/drawing/2014/main" id="{9447893F-C985-463B-BDBD-F3AF34F2964B}"/>
              </a:ext>
            </a:extLst>
          </p:cNvPr>
          <p:cNvSpPr txBox="1">
            <a:spLocks/>
          </p:cNvSpPr>
          <p:nvPr/>
        </p:nvSpPr>
        <p:spPr>
          <a:xfrm>
            <a:off x="6462578" y="4035601"/>
            <a:ext cx="22322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2800" dirty="0">
                <a:solidFill>
                  <a:srgbClr val="0070C0"/>
                </a:solidFill>
              </a:rPr>
              <a:t>Thank you!</a:t>
            </a:r>
          </a:p>
        </p:txBody>
      </p:sp>
      <p:sp>
        <p:nvSpPr>
          <p:cNvPr id="6" name="Google Shape;347;p45">
            <a:extLst>
              <a:ext uri="{FF2B5EF4-FFF2-40B4-BE49-F238E27FC236}">
                <a16:creationId xmlns:a16="http://schemas.microsoft.com/office/drawing/2014/main" id="{F229979D-1877-445F-A1C8-B673E40E4A47}"/>
              </a:ext>
            </a:extLst>
          </p:cNvPr>
          <p:cNvSpPr txBox="1">
            <a:spLocks/>
          </p:cNvSpPr>
          <p:nvPr/>
        </p:nvSpPr>
        <p:spPr>
          <a:xfrm>
            <a:off x="6591569" y="4517100"/>
            <a:ext cx="1931342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700" b="0" i="1" dirty="0">
                <a:solidFill>
                  <a:srgbClr val="0070C0"/>
                </a:solidFill>
              </a:rPr>
              <a:t>Questions?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0C42B0D-26D6-4A09-BFA8-5A2E0231E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478" y="868064"/>
            <a:ext cx="572830" cy="57283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3E48DAF-71CA-4A1B-A0BC-380467D64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229" y="868064"/>
            <a:ext cx="572830" cy="57283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D55A09D-8704-478F-BDC9-7600B8B23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9980" y="868064"/>
            <a:ext cx="572830" cy="57283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DE1B33D-C083-48C8-A89F-0DF9BE068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8890" y="868064"/>
            <a:ext cx="572830" cy="57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>
            <a:spLocks noGrp="1"/>
          </p:cNvSpPr>
          <p:nvPr>
            <p:ph type="title"/>
          </p:nvPr>
        </p:nvSpPr>
        <p:spPr>
          <a:xfrm>
            <a:off x="317400" y="199905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Thank you!</a:t>
            </a:r>
            <a:endParaRPr sz="2800" dirty="0">
              <a:solidFill>
                <a:srgbClr val="0070C0"/>
              </a:solidFill>
            </a:endParaRPr>
          </a:p>
        </p:txBody>
      </p:sp>
      <p:sp>
        <p:nvSpPr>
          <p:cNvPr id="347" name="Google Shape;347;p45"/>
          <p:cNvSpPr txBox="1">
            <a:spLocks noGrp="1"/>
          </p:cNvSpPr>
          <p:nvPr>
            <p:ph type="title"/>
          </p:nvPr>
        </p:nvSpPr>
        <p:spPr>
          <a:xfrm>
            <a:off x="317400" y="2501075"/>
            <a:ext cx="8509200" cy="4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0" i="1" dirty="0">
                <a:solidFill>
                  <a:srgbClr val="0070C0"/>
                </a:solidFill>
              </a:rPr>
              <a:t>Questions?</a:t>
            </a:r>
            <a:endParaRPr sz="1700" b="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Panoramic of GeoMedia</a:t>
            </a:r>
            <a:endParaRPr sz="2800" dirty="0">
              <a:solidFill>
                <a:srgbClr val="0070C0"/>
              </a:solidFill>
            </a:endParaRPr>
          </a:p>
        </p:txBody>
      </p:sp>
      <p:cxnSp>
        <p:nvCxnSpPr>
          <p:cNvPr id="265" name="Google Shape;265;p37"/>
          <p:cNvCxnSpPr/>
          <p:nvPr/>
        </p:nvCxnSpPr>
        <p:spPr>
          <a:xfrm rot="10800000" flipH="1">
            <a:off x="-125650" y="7584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37"/>
          <p:cNvSpPr txBox="1"/>
          <p:nvPr/>
        </p:nvSpPr>
        <p:spPr>
          <a:xfrm>
            <a:off x="4619588" y="1064863"/>
            <a:ext cx="3963389" cy="95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GeoMedia</a:t>
            </a:r>
            <a:r>
              <a:rPr lang="it-IT" dirty="0">
                <a:solidFill>
                  <a:srgbClr val="0070C0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a mobile application and social network </a:t>
            </a:r>
            <a:r>
              <a:rPr lang="it-IT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that</a:t>
            </a:r>
            <a:r>
              <a:rPr lang="it-IT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anchors</a:t>
            </a:r>
            <a:r>
              <a:rPr lang="it-IT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multimedia </a:t>
            </a:r>
            <a:r>
              <a:rPr lang="it-IT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posts</a:t>
            </a:r>
            <a:r>
              <a:rPr lang="it-IT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 to </a:t>
            </a:r>
            <a:r>
              <a:rPr lang="it-IT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real</a:t>
            </a:r>
            <a:r>
              <a:rPr lang="it-IT" dirty="0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-world geographic location and time </a:t>
            </a:r>
            <a:r>
              <a:rPr lang="it-IT" dirty="0" err="1">
                <a:solidFill>
                  <a:schemeClr val="tx1"/>
                </a:solidFill>
                <a:latin typeface="Archivo"/>
                <a:ea typeface="Archivo"/>
                <a:cs typeface="Archivo"/>
                <a:sym typeface="Archivo"/>
              </a:rPr>
              <a:t>intervals</a:t>
            </a:r>
            <a:endParaRPr dirty="0">
              <a:solidFill>
                <a:schemeClr val="tx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70C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67" name="Google Shape;26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6086" y="1119323"/>
            <a:ext cx="1633875" cy="366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34" y="1119323"/>
            <a:ext cx="1991200" cy="36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7" title="location-pin(4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600" y="2181753"/>
            <a:ext cx="464774" cy="4647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 txBox="1"/>
          <p:nvPr/>
        </p:nvSpPr>
        <p:spPr>
          <a:xfrm>
            <a:off x="5084374" y="2181753"/>
            <a:ext cx="374532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The user current position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5084337" y="2865054"/>
            <a:ext cx="374532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Post with just text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5084349" y="3563943"/>
            <a:ext cx="374532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Post with media attachment (photos, videos, audio)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5130012" y="4317115"/>
            <a:ext cx="3745325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Exclusive content (by time or geographical area)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75" name="Google Shape;275;p37" title="location-pin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9588" y="2831754"/>
            <a:ext cx="464750" cy="4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7" title="location-pin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9600" y="3547293"/>
            <a:ext cx="464750" cy="4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7" title="location-pin(3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65263" y="4239981"/>
            <a:ext cx="464774" cy="464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2E466E5E-5D3E-46FC-8F46-405EF889D0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4831" y="234234"/>
            <a:ext cx="22718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Temporized post</a:t>
            </a:r>
            <a:endParaRPr sz="2800" dirty="0">
              <a:solidFill>
                <a:srgbClr val="0070C0"/>
              </a:solidFill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2388450" y="1490525"/>
            <a:ext cx="6105000" cy="18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Temporized posts will be reachable until the expiration date set by the publisher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The retrieving of the posts is made server side, which will compare the current datetime with the limit date of each temporized post 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84" name="Google Shape;284;p38"/>
          <p:cNvCxnSpPr/>
          <p:nvPr/>
        </p:nvCxnSpPr>
        <p:spPr>
          <a:xfrm rot="10800000" flipH="1">
            <a:off x="-125650" y="7584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5" name="Google Shape;285;p38" title="DataO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25" y="1018200"/>
            <a:ext cx="1836875" cy="365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1C7DF792-034B-4210-844B-1A8082EE8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125" y="-64294"/>
            <a:ext cx="2291659" cy="51435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C2DC692A-C1A4-4E1E-B821-89E33A6B2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900" y="-64294"/>
            <a:ext cx="2291659" cy="51435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B525C87-9627-4CC7-8A4E-010E3C2C0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8" y="468469"/>
            <a:ext cx="2550017" cy="467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3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Mobile application</a:t>
            </a:r>
            <a:endParaRPr sz="2800" dirty="0">
              <a:solidFill>
                <a:srgbClr val="0070C0"/>
              </a:solidFill>
            </a:endParaRPr>
          </a:p>
        </p:txBody>
      </p:sp>
      <p:cxnSp>
        <p:nvCxnSpPr>
          <p:cNvPr id="312" name="Google Shape;312;p41"/>
          <p:cNvCxnSpPr/>
          <p:nvPr/>
        </p:nvCxnSpPr>
        <p:spPr>
          <a:xfrm rot="10800000" flipH="1">
            <a:off x="-125650" y="7584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3" name="Google Shape;313;p41"/>
          <p:cNvSpPr txBox="1"/>
          <p:nvPr/>
        </p:nvSpPr>
        <p:spPr>
          <a:xfrm>
            <a:off x="432225" y="1138475"/>
            <a:ext cx="3882600" cy="3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Made with Ionic Framework and React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Using Ionic Capacitor as interface to physical sensors such as GPS and file system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4" name="Google Shape;314;p41"/>
          <p:cNvSpPr txBox="1"/>
          <p:nvPr/>
        </p:nvSpPr>
        <p:spPr>
          <a:xfrm>
            <a:off x="5328499" y="1045075"/>
            <a:ext cx="3383275" cy="3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Main purposes</a:t>
            </a:r>
            <a:endParaRPr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Provide UI and interact with users</a:t>
            </a: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Get the current location of the end-users as coordinate</a:t>
            </a: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Render posts in a map as markers</a:t>
            </a: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Provide a profile section for users in order to see their post and settings (i.e. change server)</a:t>
            </a: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Publish new content</a:t>
            </a: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Fetch server with HTTP requests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15" name="Google Shape;31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25" y="2986350"/>
            <a:ext cx="1391401" cy="139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1038" y="2986350"/>
            <a:ext cx="2342924" cy="10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Server side</a:t>
            </a:r>
            <a:endParaRPr sz="2800" dirty="0">
              <a:solidFill>
                <a:srgbClr val="0070C0"/>
              </a:solidFill>
            </a:endParaRPr>
          </a:p>
        </p:txBody>
      </p:sp>
      <p:cxnSp>
        <p:nvCxnSpPr>
          <p:cNvPr id="322" name="Google Shape;322;p42"/>
          <p:cNvCxnSpPr/>
          <p:nvPr/>
        </p:nvCxnSpPr>
        <p:spPr>
          <a:xfrm rot="10800000" flipH="1">
            <a:off x="-125650" y="7584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" name="Google Shape;323;p42"/>
          <p:cNvSpPr txBox="1"/>
          <p:nvPr/>
        </p:nvSpPr>
        <p:spPr>
          <a:xfrm>
            <a:off x="432225" y="1138475"/>
            <a:ext cx="3818306" cy="3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Made with NodeJS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Using HTTP native library to create a server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Using Tedious in order to connect to a Microsoft SQL Server database.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24" name="Google Shape;32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22" y="3068000"/>
            <a:ext cx="2287877" cy="14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 txBox="1"/>
          <p:nvPr/>
        </p:nvSpPr>
        <p:spPr>
          <a:xfrm>
            <a:off x="5328500" y="1045075"/>
            <a:ext cx="3321300" cy="3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Main purposes</a:t>
            </a:r>
            <a:endParaRPr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Create an HTTP Server</a:t>
            </a: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Retrieve and store data through the relative DataBase Management System </a:t>
            </a: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Implement the Vincenty’s formulae for distance computation of geographical exclusive posts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264550" y="201600"/>
            <a:ext cx="850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0C0"/>
                </a:solidFill>
              </a:rPr>
              <a:t>DataBase Management System</a:t>
            </a:r>
            <a:endParaRPr sz="2800" dirty="0">
              <a:solidFill>
                <a:srgbClr val="0070C0"/>
              </a:solidFill>
            </a:endParaRPr>
          </a:p>
        </p:txBody>
      </p:sp>
      <p:cxnSp>
        <p:nvCxnSpPr>
          <p:cNvPr id="331" name="Google Shape;331;p43"/>
          <p:cNvCxnSpPr/>
          <p:nvPr/>
        </p:nvCxnSpPr>
        <p:spPr>
          <a:xfrm rot="10800000" flipH="1">
            <a:off x="-125650" y="758400"/>
            <a:ext cx="6936300" cy="15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43"/>
          <p:cNvSpPr txBox="1"/>
          <p:nvPr/>
        </p:nvSpPr>
        <p:spPr>
          <a:xfrm>
            <a:off x="432225" y="1138475"/>
            <a:ext cx="2829600" cy="3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Made with Microsoft SQL Server 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3" name="Google Shape;333;p43"/>
          <p:cNvSpPr txBox="1"/>
          <p:nvPr/>
        </p:nvSpPr>
        <p:spPr>
          <a:xfrm>
            <a:off x="5328500" y="1045075"/>
            <a:ext cx="3321300" cy="3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Main purposes</a:t>
            </a:r>
            <a:endParaRPr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Provide a relational database to store data in well defined tables</a:t>
            </a:r>
            <a:b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Manage data with stored procedure and functions in order to preserve the single responsibility principle 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34" name="Google Shape;3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25" y="1924849"/>
            <a:ext cx="3436477" cy="8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gnage for Wayfinding by Slidesgo">
  <a:themeElements>
    <a:clrScheme name="Simple Light">
      <a:dk1>
        <a:srgbClr val="3A3233"/>
      </a:dk1>
      <a:lt1>
        <a:srgbClr val="EFEFEF"/>
      </a:lt1>
      <a:dk2>
        <a:srgbClr val="BCBEC0"/>
      </a:dk2>
      <a:lt2>
        <a:srgbClr val="939598"/>
      </a:lt2>
      <a:accent1>
        <a:srgbClr val="3D85C6"/>
      </a:accent1>
      <a:accent2>
        <a:srgbClr val="F2857C"/>
      </a:accent2>
      <a:accent3>
        <a:srgbClr val="EFB500"/>
      </a:accent3>
      <a:accent4>
        <a:srgbClr val="FFFFFF"/>
      </a:accent4>
      <a:accent5>
        <a:srgbClr val="FFFFFF"/>
      </a:accent5>
      <a:accent6>
        <a:srgbClr val="FFFFFF"/>
      </a:accent6>
      <a:hlink>
        <a:srgbClr val="3D85C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629</Words>
  <Application>Microsoft Office PowerPoint</Application>
  <PresentationFormat>Presentazione su schermo (16:9)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Archivo</vt:lpstr>
      <vt:lpstr>Arial</vt:lpstr>
      <vt:lpstr>Nunito Light</vt:lpstr>
      <vt:lpstr>Raleway</vt:lpstr>
      <vt:lpstr>Signage for Wayfinding by Slidesgo</vt:lpstr>
      <vt:lpstr>Presentazione standard di PowerPoint</vt:lpstr>
      <vt:lpstr>Location based Applications</vt:lpstr>
      <vt:lpstr>GeoMedia</vt:lpstr>
      <vt:lpstr>GeoMedia Options</vt:lpstr>
      <vt:lpstr>Architecture</vt:lpstr>
      <vt:lpstr>Use Cases</vt:lpstr>
      <vt:lpstr>Conclusion</vt:lpstr>
      <vt:lpstr>Thank you!</vt:lpstr>
      <vt:lpstr>Panoramic of GeoMedia</vt:lpstr>
      <vt:lpstr>Temporized post</vt:lpstr>
      <vt:lpstr>Mobile application</vt:lpstr>
      <vt:lpstr>Server side</vt:lpstr>
      <vt:lpstr>DataBase Management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Claudio</dc:creator>
  <cp:lastModifiedBy>Claudio Palazzi (UNIPD)</cp:lastModifiedBy>
  <cp:revision>26</cp:revision>
  <dcterms:modified xsi:type="dcterms:W3CDTF">2025-09-04T09:44:14Z</dcterms:modified>
</cp:coreProperties>
</file>